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Inter SemiBold"/>
      <p:regular r:id="rId12"/>
      <p:bold r:id="rId13"/>
      <p:italic r:id="rId14"/>
      <p:boldItalic r:id="rId15"/>
    </p:embeddedFont>
    <p:embeddedFont>
      <p:font typeface="Inter"/>
      <p:regular r:id="rId16"/>
      <p:bold r:id="rId17"/>
      <p:italic r:id="rId18"/>
      <p:boldItalic r:id="rId19"/>
    </p:embeddedFont>
    <p:embeddedFont>
      <p:font typeface="Space Grotesk"/>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paceGrotesk-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SpaceGrotesk-bold.fntdata"/><Relationship Id="rId13" Type="http://schemas.openxmlformats.org/officeDocument/2006/relationships/font" Target="fonts/InterSemiBold-bold.fntdata"/><Relationship Id="rId12" Type="http://schemas.openxmlformats.org/officeDocument/2006/relationships/font" Target="fonts/Inter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SemiBold-boldItalic.fntdata"/><Relationship Id="rId14" Type="http://schemas.openxmlformats.org/officeDocument/2006/relationships/font" Target="fonts/InterSemiBold-italic.fntdata"/><Relationship Id="rId17" Type="http://schemas.openxmlformats.org/officeDocument/2006/relationships/font" Target="fonts/Inter-bold.fntdata"/><Relationship Id="rId16" Type="http://schemas.openxmlformats.org/officeDocument/2006/relationships/font" Target="fonts/Inter-regular.fntdata"/><Relationship Id="rId5" Type="http://schemas.openxmlformats.org/officeDocument/2006/relationships/notesMaster" Target="notesMasters/notesMaster1.xml"/><Relationship Id="rId19" Type="http://schemas.openxmlformats.org/officeDocument/2006/relationships/font" Target="fonts/Inter-boldItalic.fntdata"/><Relationship Id="rId6" Type="http://schemas.openxmlformats.org/officeDocument/2006/relationships/slide" Target="slides/slide1.xml"/><Relationship Id="rId18" Type="http://schemas.openxmlformats.org/officeDocument/2006/relationships/font" Target="fonts/Inter-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We've spent years building the most reliable agent platform in the industry. V2 takes everything we've learned and rethinks the foundation. Instead of choosing between rigid scripts or unpredictable LLMs, V2 gives you both — in a single declarative language that compiles, validates, and runs at enterprise scale. This is what we're launching at Reimagine.</a:t>
            </a:r>
            <a:endParaRPr/>
          </a:p>
        </p:txBody>
      </p:sp>
      <p:sp>
        <p:nvSpPr>
          <p:cNvPr id="81" name="Google Shape;8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ABL is the core innovation in V2. It's YAML — your teams already know it. But it compiles to a validated intermediate representation, just like a programming language. That means broken handoffs, invalid tool references, and unreachable steps are caught at build time — not in production. The three execution modes are key: scripted for high-volume IVR flows where you need sub-500ms and zero LLM spend, reasoning for complex problem-solving, and hybrid when you need both in one conversation. The constraints section is unique to ABL — these are formal rules that the LLM literally cannot violate. They're enforced by a separate deterministic engine.</a:t>
            </a:r>
            <a:endParaRPr/>
          </a:p>
        </p:txBody>
      </p:sp>
      <p:sp>
        <p:nvSpPr>
          <p:cNvPr id="98" name="Google Shape;9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Studio is where your teams will spend their time. Arch is the standout — it's an AI architect that understands the entire project context. You describe what you want in plain English, it designs the multi-agent topology, generates the ABL code, and hands it to you for review. The editor gives you real-time compilation feedback — red squiggles like VS Code, but for agent definitions. The topology canvas shows you the full picture: which agent talks to which, where handoffs go, where escalations land. Testing is built in — we auto-generate test personas that stress-test your agents, and every conversation is scored by an LLM judge on goal completion, accuracy, tone, safety, and PII handling.</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V2 is built for regulated industries from the ground up. Tenant isolation isn't a feature we added — it's enforced at the database query level. Every query includes a tenant filter. Every cache key is tenant-prefixed. The guardrails system is unique: it's a 3-tier pipeline where local checks run in under a millisecond, model-based checks use purpose-built safety models, and LLM-based checks handle nuanced contextual evaluation. Critically, these are enforced by a separate engine — the LLM cannot talk its way around a constraint. On scale: the runtime is fully stateless. Sessions rehydrate on any pod. You can scale horizontally without sticky sessions or pod affinity.</a:t>
            </a:r>
            <a:endParaRPr/>
          </a:p>
        </p:txBody>
      </p:sp>
      <p:sp>
        <p:nvSpPr>
          <p:cNvPr id="147" name="Google Shape;14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Two capabilities that set V2 apart. Search-AI is a full ingestion-to-retrieval pipeline. Documents go through processing stages — extraction, chunking, entity extraction, knowledge graph construction, embedding. The retrieval is permission-aware, so a user only gets results they're authorized to see. On the analytics side, the game-changer is 100% conversation evaluation. Instead of relying on the 5-15% of customers who fill out surveys, every single conversation is scored by an LLM judge across multiple dimensions. You get a CX score for every interaction, friction detection that catches struggling users in real-time, and full cost attribution so you know exactly what each agent, intent, and conversation costs you.</a:t>
            </a:r>
            <a:endParaRPr/>
          </a:p>
        </p:txBody>
      </p:sp>
      <p:sp>
        <p:nvSpPr>
          <p:cNvPr id="171" name="Google Shape;17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We're launching with a comprehensive platform — the language, the IDE, multi-agent orchestration, omnichannel support, knowledge pipeline, and analytics are all shipping. In Q2, we're adding SDK support so your engineering teams can define agents programmatically in Python or TypeScript — great for CI/CD pipelines and Jupyter notebooks. Multi-intent means an agent can handle "check my balance and also dispute that charge" in one conversation instead of forcing the user to start over. In Q3 and beyond, the workflow engine brings durable execution for multi-step business processes, and the AI insights layer starts proactively suggesting improvements — "your escalation rate spiked 20% this week, here's the root cause and a one-click fix." We're building a platform that doesn't just run agents — it makes them better over time.</a:t>
            </a:r>
            <a:endParaRPr/>
          </a:p>
        </p:txBody>
      </p:sp>
      <p:sp>
        <p:nvSpPr>
          <p:cNvPr id="191" name="Google Shape;19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 name="Google Shape;13;p2"/>
          <p:cNvSpPr txBox="1"/>
          <p:nvPr/>
        </p:nvSpPr>
        <p:spPr>
          <a:xfrm>
            <a:off x="456725" y="6403763"/>
            <a:ext cx="1975800" cy="27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Kore.ai</a:t>
            </a:r>
            <a:endParaRPr sz="1100">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7" name="Google Shape;17;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 name="Google Shape;23;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9" name="Google Shape;29;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5" name="Google Shape;35;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sp>
        <p:nvSpPr>
          <p:cNvPr id="40" name="Google Shape;4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2" name="Google Shape;42;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3" name="Google Shape;43;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4" name="Google Shape;44;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 name="Google Shape;45;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3" name="Shape 53"/>
        <p:cNvGrpSpPr/>
        <p:nvPr/>
      </p:nvGrpSpPr>
      <p:grpSpPr>
        <a:xfrm>
          <a:off x="0" y="0"/>
          <a:ext cx="0" cy="0"/>
          <a:chOff x="0" y="0"/>
          <a:chExt cx="0" cy="0"/>
        </a:xfrm>
      </p:grpSpPr>
      <p:sp>
        <p:nvSpPr>
          <p:cNvPr id="54" name="Google Shape;54;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6" name="Google Shape;56;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7" name="Google Shape;57;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0" name="Shape 60"/>
        <p:cNvGrpSpPr/>
        <p:nvPr/>
      </p:nvGrpSpPr>
      <p:grpSpPr>
        <a:xfrm>
          <a:off x="0" y="0"/>
          <a:ext cx="0" cy="0"/>
          <a:chOff x="0" y="0"/>
          <a:chExt cx="0" cy="0"/>
        </a:xfrm>
      </p:grpSpPr>
      <p:sp>
        <p:nvSpPr>
          <p:cNvPr id="61" name="Google Shape;61;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0"/>
          <p:cNvSpPr/>
          <p:nvPr>
            <p:ph idx="2" type="pic"/>
          </p:nvPr>
        </p:nvSpPr>
        <p:spPr>
          <a:xfrm>
            <a:off x="1792288" y="612775"/>
            <a:ext cx="5486400" cy="4114800"/>
          </a:xfrm>
          <a:prstGeom prst="rect">
            <a:avLst/>
          </a:prstGeom>
          <a:noFill/>
          <a:ln>
            <a:noFill/>
          </a:ln>
        </p:spPr>
      </p:sp>
      <p:sp>
        <p:nvSpPr>
          <p:cNvPr id="63" name="Google Shape;63;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4" name="Google Shape;64;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7" name="Shape 67"/>
        <p:cNvGrpSpPr/>
        <p:nvPr/>
      </p:nvGrpSpPr>
      <p:grpSpPr>
        <a:xfrm>
          <a:off x="0" y="0"/>
          <a:ext cx="0" cy="0"/>
          <a:chOff x="0" y="0"/>
          <a:chExt cx="0" cy="0"/>
        </a:xfrm>
      </p:grpSpPr>
      <p:sp>
        <p:nvSpPr>
          <p:cNvPr id="68" name="Google Shape;68;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0" name="Google Shape;70;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3" name="Shape 73"/>
        <p:cNvGrpSpPr/>
        <p:nvPr/>
      </p:nvGrpSpPr>
      <p:grpSpPr>
        <a:xfrm>
          <a:off x="0" y="0"/>
          <a:ext cx="0" cy="0"/>
          <a:chOff x="0" y="0"/>
          <a:chExt cx="0" cy="0"/>
        </a:xfrm>
      </p:grpSpPr>
      <p:sp>
        <p:nvSpPr>
          <p:cNvPr id="74" name="Google Shape;74;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6" name="Google Shape;76;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21.png"/><Relationship Id="rId7" Type="http://schemas.openxmlformats.org/officeDocument/2006/relationships/image" Target="../media/image10.png"/></Relationships>
</file>

<file path=ppt/slides/_rels/slide3.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14.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3.png"/><Relationship Id="rId9"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5.png"/><Relationship Id="rId7" Type="http://schemas.openxmlformats.org/officeDocument/2006/relationships/image" Target="../media/image8.png"/><Relationship Id="rId8"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9.png"/><Relationship Id="rId9" Type="http://schemas.openxmlformats.org/officeDocument/2006/relationships/image" Target="../media/image25.png"/><Relationship Id="rId5" Type="http://schemas.openxmlformats.org/officeDocument/2006/relationships/image" Target="../media/image23.png"/><Relationship Id="rId6" Type="http://schemas.openxmlformats.org/officeDocument/2006/relationships/image" Target="../media/image27.png"/><Relationship Id="rId7" Type="http://schemas.openxmlformats.org/officeDocument/2006/relationships/image" Target="../media/image17.png"/><Relationship Id="rId8"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0.png"/><Relationship Id="rId5" Type="http://schemas.openxmlformats.org/officeDocument/2006/relationships/image" Target="../media/image28.png"/><Relationship Id="rId6" Type="http://schemas.openxmlformats.org/officeDocument/2006/relationships/image" Target="../media/image31.png"/><Relationship Id="rId7"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3.png"/><Relationship Id="rId5" Type="http://schemas.openxmlformats.org/officeDocument/2006/relationships/image" Target="../media/image29.png"/><Relationship Id="rId6" Type="http://schemas.openxmlformats.org/officeDocument/2006/relationships/image" Target="../media/image24.png"/><Relationship Id="rId7" Type="http://schemas.openxmlformats.org/officeDocument/2006/relationships/image" Target="../media/image26.png"/></Relationships>
</file>

<file path=ppt/slides/slide1.xml><?xml version="1.0" encoding="utf-8"?>
<p:sld xmlns:a="http://schemas.openxmlformats.org/drawingml/2006/main" xmlns:ns2="http://schemas.openxmlformats.org/officeDocument/2006/relationships" xmlns:p="http://schemas.openxmlformats.org/presentationml/2006/main">
  <p:cSld>
    <p:spTree>
      <p:nvGrpSpPr>
        <p:cNvPr id="82" name="Shape 82"/>
        <p:cNvGrpSpPr/>
        <p:nvPr/>
      </p:nvGrpSpPr>
      <p:grpSpPr>
        <a:xfrm>
          <a:off x="0" y="0"/>
          <a:ext cx="0" cy="0"/>
          <a:chOff x="0" y="0"/>
          <a:chExt cx="0" cy="0"/>
        </a:xfrm>
      </p:grpSpPr>
      <p:pic>
        <p:nvPicPr>
          <p:cNvPr descr="image.png" id="83" name="Google Shape;83;p13"/>
          <p:cNvPicPr preferRelativeResize="0"/>
          <p:nvPr/>
        </p:nvPicPr>
        <p:blipFill rotWithShape="1">
          <a:blip ns2:embed="rId3">
            <a:alphaModFix/>
          </a:blip>
          <a:srcRect b="0" l="0" r="0" t="0"/>
          <a:stretch/>
        </p:blipFill>
        <p:spPr>
          <a:xfrm>
            <a:off x="0" y="0"/>
            <a:ext cx="76200" cy="6858000"/>
          </a:xfrm>
          <a:prstGeom prst="rect">
            <a:avLst/>
          </a:prstGeom>
          <a:noFill/>
          <a:ln>
            <a:noFill/>
          </a:ln>
        </p:spPr>
      </p:pic>
      <p:pic>
        <p:nvPicPr>
          <p:cNvPr descr="image.png" id="84" name="Google Shape;84;p13"/>
          <p:cNvPicPr preferRelativeResize="0"/>
          <p:nvPr/>
        </p:nvPicPr>
        <p:blipFill rotWithShape="1">
          <a:blip ns2:embed="rId4">
            <a:alphaModFix/>
          </a:blip>
          <a:srcRect b="0" l="0" r="0" t="0"/>
          <a:stretch/>
        </p:blipFill>
        <p:spPr>
          <a:xfrm>
            <a:off x="2286000" y="5760094"/>
            <a:ext cx="7620000" cy="676275"/>
          </a:xfrm>
          <a:prstGeom prst="rect">
            <a:avLst/>
          </a:prstGeom>
          <a:noFill/>
          <a:ln>
            <a:noFill/>
          </a:ln>
        </p:spPr>
      </p:pic>
      <p:sp>
        <p:nvSpPr>
          <p:cNvPr id="85" name="Google Shape;85;p13"/>
          <p:cNvSpPr txBox="1"/>
          <p:nvPr/>
        </p:nvSpPr>
        <p:spPr>
          <a:xfrm>
            <a:off x="11477625" y="6410325"/>
            <a:ext cx="14287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a:ea typeface="Inter"/>
                <a:cs typeface="Inter"/>
                <a:sym typeface="Inter"/>
              </a:rPr>
              <a:t>01</a:t>
            </a:r>
            <a:endParaRPr/>
          </a:p>
        </p:txBody>
      </p:sp>
      <p:sp>
        <p:nvSpPr>
          <p:cNvPr id="86" name="Google Shape;86;p13"/>
          <p:cNvSpPr txBox="1"/>
          <p:nvPr/>
        </p:nvSpPr>
        <p:spPr>
          <a:xfrm>
            <a:off x="4100512" y="571500"/>
            <a:ext cx="3990900" cy="231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lang="en-US" sz="1500">
                <a:solidFill>
                  <a:srgbClr val="6366F1"/>
                </a:solidFill>
                <a:latin typeface="Inter SemiBold"/>
                <a:ea typeface="Inter SemiBold"/>
                <a:cs typeface="Inter SemiBold"/>
                <a:sym typeface="Inter SemiBold"/>
              </a:rPr>
              <a:t>Kore.ai</a:t>
            </a:r>
            <a:r>
              <a:rPr b="0" i="0" lang="en-US" sz="1500" u="none" cap="none" strike="noStrike">
                <a:solidFill>
                  <a:srgbClr val="6366F1"/>
                </a:solidFill>
                <a:latin typeface="Inter SemiBold"/>
                <a:ea typeface="Inter SemiBold"/>
                <a:cs typeface="Inter SemiBold"/>
                <a:sym typeface="Inter SemiBold"/>
              </a:rPr>
              <a:t> AGENT PLATFORM V2</a:t>
            </a:r>
            <a:endParaRPr/>
          </a:p>
        </p:txBody>
      </p:sp>
      <p:sp>
        <p:nvSpPr>
          <p:cNvPr id="87" name="Google Shape;87;p13"/>
          <p:cNvSpPr txBox="1"/>
          <p:nvPr/>
        </p:nvSpPr>
        <p:spPr>
          <a:xfrm>
            <a:off x="2540555" y="1257300"/>
            <a:ext cx="7110888" cy="1340941"/>
          </a:xfrm>
          <a:prstGeom prst="rect">
            <a:avLst/>
          </a:prstGeom>
          <a:noFill/>
          <a:ln>
            <a:noFill/>
          </a:ln>
        </p:spPr>
        <p:txBody>
          <a:bodyPr anchorCtr="0" anchor="t" bIns="0" lIns="0" spcFirstLastPara="1" rIns="0" wrap="square" tIns="0">
            <a:spAutoFit/>
          </a:bodyPr>
          <a:lstStyle/>
          <a:p>
            <a:r>
              <a:rPr b="1" i="0" lang="en-US" sz="4800" u="none" cap="none" strike="noStrike">
                <a:solidFill>
                  <a:srgbClr val="0F172A"/>
                </a:solidFill>
                <a:latin typeface="Space Grotesk"/>
                <a:ea typeface="Space Grotesk"/>
                <a:cs typeface="Space Grotesk"/>
                <a:sym typeface="Space Grotesk"/>
              </a:rPr>
              <a:t>From Working Bots to an AI Agent Operating System</a:t>
            </a:r>
            <a:endParaRPr/>
          </a:p>
        </p:txBody>
      </p:sp>
      <p:sp>
        <p:nvSpPr>
          <p:cNvPr id="88" name="Google Shape;88;p13"/>
          <p:cNvSpPr txBox="1"/>
          <p:nvPr/>
        </p:nvSpPr>
        <p:spPr>
          <a:xfrm>
            <a:off x="1809750" y="3169741"/>
            <a:ext cx="8572500" cy="731341"/>
          </a:xfrm>
          <a:prstGeom prst="rect">
            <a:avLst/>
          </a:prstGeom>
          <a:noFill/>
          <a:ln>
            <a:noFill/>
          </a:ln>
        </p:spPr>
        <p:txBody>
          <a:bodyPr anchorCtr="0" anchor="t" bIns="0" lIns="0" spcFirstLastPara="1" rIns="0" wrap="square" tIns="0">
            <a:spAutoFit/>
          </a:bodyPr>
          <a:lstStyle/>
          <a:p>
            <a:r>
              <a:rPr b="0" i="0" lang="en-US" sz="1800" u="none" cap="none" strike="noStrike">
                <a:solidFill>
                  <a:srgbClr val="1E293B"/>
                </a:solidFill>
                <a:latin typeface="Inter"/>
                <a:ea typeface="Inter"/>
                <a:cs typeface="Inter"/>
                <a:sym typeface="Inter"/>
              </a:rPr>
              <a:t>You already run agents in production. The next challenge is scaling speed, quality, and cost together.</a:t>
            </a:r>
            <a:endParaRPr/>
          </a:p>
        </p:txBody>
      </p:sp>
      <p:sp>
        <p:nvSpPr>
          <p:cNvPr id="89" name="Google Shape;89;p13"/>
          <p:cNvSpPr txBox="1"/>
          <p:nvPr/>
        </p:nvSpPr>
        <p:spPr>
          <a:xfrm>
            <a:off x="1809750" y="4043957"/>
            <a:ext cx="8572500" cy="365670"/>
          </a:xfrm>
          <a:prstGeom prst="rect">
            <a:avLst/>
          </a:prstGeom>
          <a:noFill/>
          <a:ln>
            <a:noFill/>
          </a:ln>
        </p:spPr>
        <p:txBody>
          <a:bodyPr anchorCtr="0" anchor="t" bIns="0" lIns="0" spcFirstLastPara="1" rIns="0" wrap="square" tIns="0">
            <a:spAutoFit/>
          </a:bodyPr>
          <a:lstStyle/>
          <a:p>
            <a:r>
              <a:rPr b="0" i="0" lang="en-US" sz="1800" u="none" cap="none" strike="noStrike">
                <a:solidFill>
                  <a:srgbClr val="1E293B"/>
                </a:solidFill>
                <a:latin typeface="Inter"/>
                <a:ea typeface="Inter"/>
                <a:cs typeface="Inter"/>
                <a:sym typeface="Inter"/>
              </a:rPr>
              <a:t>Agent Platform V2 removes current bottlenecks: fragmented tooling, difficult debugging, and release risk.</a:t>
            </a:r>
            <a:endParaRPr/>
          </a:p>
        </p:txBody>
      </p:sp>
      <p:sp>
        <p:nvSpPr>
          <p:cNvPr id="90" name="Google Shape;90;p13"/>
          <p:cNvSpPr txBox="1"/>
          <p:nvPr/>
        </p:nvSpPr>
        <p:spPr>
          <a:xfrm>
            <a:off x="1809750" y="4552503"/>
            <a:ext cx="8572500" cy="731341"/>
          </a:xfrm>
          <a:prstGeom prst="rect">
            <a:avLst/>
          </a:prstGeom>
          <a:noFill/>
          <a:ln>
            <a:noFill/>
          </a:ln>
        </p:spPr>
        <p:txBody>
          <a:bodyPr anchorCtr="0" anchor="t" bIns="0" lIns="0" spcFirstLastPara="1" rIns="0" wrap="square" tIns="0">
            <a:spAutoFit/>
          </a:bodyPr>
          <a:lstStyle/>
          <a:p>
            <a:r>
              <a:rPr b="1" i="0" lang="en-US" sz="1800" u="none" cap="none" strike="noStrike">
                <a:solidFill>
                  <a:srgbClr val="6366F1"/>
                </a:solidFill>
                <a:latin typeface="Inter"/>
                <a:ea typeface="Inter"/>
                <a:cs typeface="Inter"/>
                <a:sym typeface="Inter"/>
              </a:rPr>
              <a:t>Outcome for existing customers: faster delivery, lower VPC infra footprint, stronger governance, and measurable CX/ROI gains.</a:t>
            </a:r>
            <a:endParaRPr/>
          </a:p>
        </p:txBody>
      </p:sp>
      <p:sp>
        <p:nvSpPr>
          <p:cNvPr id="91" name="Google Shape;91;p13"/>
          <p:cNvSpPr txBox="1"/>
          <p:nvPr/>
        </p:nvSpPr>
        <p:spPr>
          <a:xfrm>
            <a:off x="2486025" y="6002982"/>
            <a:ext cx="990600" cy="190500"/>
          </a:xfrm>
          <a:prstGeom prst="rect">
            <a:avLst/>
          </a:prstGeom>
          <a:noFill/>
          <a:ln>
            <a:noFill/>
          </a:ln>
        </p:spPr>
        <p:txBody>
          <a:bodyPr anchorCtr="0" anchor="ctr" bIns="0" lIns="0" spcFirstLastPara="1" rIns="0" wrap="square" tIns="0">
            <a:spAutoFit/>
          </a:bodyPr>
          <a:lstStyle/>
          <a:p>
            <a:r>
              <a:rPr b="0" i="0" lang="en-US" sz="1200" u="none" cap="none" strike="noStrike">
                <a:solidFill>
                  <a:srgbClr val="0F172A"/>
                </a:solidFill>
                <a:latin typeface="Inter SemiBold"/>
                <a:ea typeface="Inter SemiBold"/>
                <a:cs typeface="Inter SemiBold"/>
                <a:sym typeface="Inter SemiBold"/>
              </a:rPr>
              <a:t>What You Run Today</a:t>
            </a:r>
            <a:endParaRPr/>
          </a:p>
        </p:txBody>
      </p:sp>
      <p:sp>
        <p:nvSpPr>
          <p:cNvPr id="92" name="Google Shape;92;p13"/>
          <p:cNvSpPr txBox="1"/>
          <p:nvPr/>
        </p:nvSpPr>
        <p:spPr>
          <a:xfrm>
            <a:off x="5295900" y="6002982"/>
            <a:ext cx="885825" cy="190500"/>
          </a:xfrm>
          <a:prstGeom prst="rect">
            <a:avLst/>
          </a:prstGeom>
          <a:noFill/>
          <a:ln>
            <a:noFill/>
          </a:ln>
        </p:spPr>
        <p:txBody>
          <a:bodyPr anchorCtr="0" anchor="ctr" bIns="0" lIns="0" spcFirstLastPara="1" rIns="0" wrap="square" tIns="0">
            <a:spAutoFit/>
          </a:bodyPr>
          <a:lstStyle/>
          <a:p>
            <a:r>
              <a:rPr b="0" i="0" lang="en-US" sz="1200" u="none" cap="none" strike="noStrike">
                <a:solidFill>
                  <a:srgbClr val="0F172A"/>
                </a:solidFill>
                <a:latin typeface="Inter SemiBold"/>
                <a:ea typeface="Inter SemiBold"/>
                <a:cs typeface="Inter SemiBold"/>
                <a:sym typeface="Inter SemiBold"/>
              </a:rPr>
              <a:t>What Teams Bolt On</a:t>
            </a:r>
            <a:endParaRPr/>
          </a:p>
        </p:txBody>
      </p:sp>
      <p:sp>
        <p:nvSpPr>
          <p:cNvPr id="93" name="Google Shape;93;p13"/>
          <p:cNvSpPr txBox="1"/>
          <p:nvPr/>
        </p:nvSpPr>
        <p:spPr>
          <a:xfrm>
            <a:off x="8001000" y="6002982"/>
            <a:ext cx="1704900" cy="369300"/>
          </a:xfrm>
          <a:prstGeom prst="rect">
            <a:avLst/>
          </a:prstGeom>
          <a:noFill/>
          <a:ln>
            <a:noFill/>
          </a:ln>
        </p:spPr>
        <p:txBody>
          <a:bodyPr anchorCtr="0" anchor="ctr" bIns="0" lIns="0" spcFirstLastPara="1" rIns="0" wrap="square" tIns="0">
            <a:spAutoFit/>
          </a:bodyPr>
          <a:lstStyle/>
          <a:p>
            <a:r>
              <a:rPr b="0" i="0" lang="en-US" sz="1200" u="none" cap="none" strike="noStrike">
                <a:solidFill>
                  <a:srgbClr val="6366F1"/>
                </a:solidFill>
                <a:latin typeface="Inter SemiBold"/>
                <a:ea typeface="Inter SemiBold"/>
                <a:cs typeface="Inter SemiBold"/>
                <a:sym typeface="Inter SemiBold"/>
              </a:rPr>
              <a:t>What V2 Unifies</a:t>
            </a:r>
            <a:endParaRPr b="0" i="0" sz="1200" u="none" cap="none" strike="noStrike">
              <a:solidFill>
                <a:srgbClr val="6366F1"/>
              </a:solidFill>
              <a:latin typeface="Inter SemiBold"/>
              <a:ea typeface="Inter SemiBold"/>
              <a:cs typeface="Inter SemiBold"/>
              <a:sym typeface="Inter SemiBold"/>
            </a:endParaRPr>
          </a:p>
          <a:p>
            <a:r>
              <a:rPr b="0" i="0" lang="en-US" sz="1200" u="none" cap="none" strike="noStrike">
                <a:solidFill>
                  <a:srgbClr val="6366F1"/>
                </a:solidFill>
                <a:latin typeface="Inter SemiBold"/>
                <a:ea typeface="Inter SemiBold"/>
                <a:cs typeface="Inter SemiBold"/>
                <a:sym typeface="Inter SemiBold"/>
              </a:rPr>
              <a:t>(One Operating Layer)</a:t>
            </a:r>
            <a:endParaRPr b="0" i="0" sz="1200" u="none" cap="none" strike="noStrike">
              <a:solidFill>
                <a:srgbClr val="6366F1"/>
              </a:solidFill>
              <a:latin typeface="Inter SemiBold"/>
              <a:ea typeface="Inter SemiBold"/>
              <a:cs typeface="Inter SemiBold"/>
              <a:sym typeface="Inter SemiBold"/>
            </a:endParaRPr>
          </a:p>
        </p:txBody>
      </p:sp>
      <p:pic>
        <p:nvPicPr>
          <p:cNvPr descr="image.png" id="94" name="Google Shape;94;p13"/>
          <p:cNvPicPr preferRelativeResize="0"/>
          <p:nvPr/>
        </p:nvPicPr>
        <p:blipFill rotWithShape="1">
          <a:blip ns2:embed="rId5">
            <a:alphaModFix/>
          </a:blip>
          <a:srcRect b="0" l="0" r="0" t="0"/>
          <a:stretch/>
        </p:blipFill>
        <p:spPr>
          <a:xfrm>
            <a:off x="4286250" y="5979169"/>
            <a:ext cx="200025" cy="228600"/>
          </a:xfrm>
          <a:prstGeom prst="rect">
            <a:avLst/>
          </a:prstGeom>
          <a:noFill/>
          <a:ln>
            <a:noFill/>
          </a:ln>
        </p:spPr>
      </p:pic>
      <p:pic>
        <p:nvPicPr>
          <p:cNvPr descr="image.png" id="95" name="Google Shape;95;p13"/>
          <p:cNvPicPr preferRelativeResize="0"/>
          <p:nvPr/>
        </p:nvPicPr>
        <p:blipFill rotWithShape="1">
          <a:blip ns2:embed="rId5">
            <a:alphaModFix/>
          </a:blip>
          <a:srcRect b="0" l="0" r="0" t="0"/>
          <a:stretch/>
        </p:blipFill>
        <p:spPr>
          <a:xfrm>
            <a:off x="6991350" y="5979169"/>
            <a:ext cx="200025" cy="228600"/>
          </a:xfrm>
          <a:prstGeom prst="rect">
            <a:avLst/>
          </a:prstGeom>
          <a:noFill/>
          <a:ln>
            <a:noFill/>
          </a:ln>
        </p:spPr>
      </p:pic>
    </p:spTree>
  </p:cSld>
  <p:clrMapOvr>
    <a:masterClrMapping/>
  </p:clrMapOvr>
</p:sld>
</file>

<file path=ppt/slides/slide2.xml><?xml version="1.0" encoding="utf-8"?>
<p:sld xmlns:a="http://schemas.openxmlformats.org/drawingml/2006/main" xmlns:ns2="http://schemas.openxmlformats.org/officeDocument/2006/relationships" xmlns:p="http://schemas.openxmlformats.org/presentationml/2006/main">
  <p:cSld>
    <p:spTree>
      <p:nvGrpSpPr>
        <p:cNvPr id="99" name="Shape 99"/>
        <p:cNvGrpSpPr/>
        <p:nvPr/>
      </p:nvGrpSpPr>
      <p:grpSpPr>
        <a:xfrm>
          <a:off x="0" y="0"/>
          <a:ext cx="0" cy="0"/>
          <a:chOff x="0" y="0"/>
          <a:chExt cx="0" cy="0"/>
        </a:xfrm>
      </p:grpSpPr>
      <p:pic>
        <p:nvPicPr>
          <p:cNvPr descr="image.png" id="100" name="Google Shape;100;p14"/>
          <p:cNvPicPr preferRelativeResize="0"/>
          <p:nvPr/>
        </p:nvPicPr>
        <p:blipFill rotWithShape="1">
          <a:blip ns2:embed="rId3">
            <a:alphaModFix/>
          </a:blip>
          <a:srcRect b="0" l="0" r="0" t="0"/>
          <a:stretch/>
        </p:blipFill>
        <p:spPr>
          <a:xfrm>
            <a:off x="0" y="0"/>
            <a:ext cx="76200" cy="6858000"/>
          </a:xfrm>
          <a:prstGeom prst="rect">
            <a:avLst/>
          </a:prstGeom>
          <a:noFill/>
          <a:ln>
            <a:noFill/>
          </a:ln>
        </p:spPr>
      </p:pic>
      <p:sp>
        <p:nvSpPr>
          <p:cNvPr id="101" name="Google Shape;101;p14"/>
          <p:cNvSpPr txBox="1"/>
          <p:nvPr/>
        </p:nvSpPr>
        <p:spPr>
          <a:xfrm>
            <a:off x="11449050" y="6410325"/>
            <a:ext cx="1714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a:ea typeface="Inter"/>
                <a:cs typeface="Inter"/>
                <a:sym typeface="Inter"/>
              </a:rPr>
              <a:t>02</a:t>
            </a:r>
            <a:endParaRPr/>
          </a:p>
        </p:txBody>
      </p:sp>
      <p:sp>
        <p:nvSpPr>
          <p:cNvPr id="102" name="Google Shape;102;p14"/>
          <p:cNvSpPr txBox="1"/>
          <p:nvPr/>
        </p:nvSpPr>
        <p:spPr>
          <a:xfrm>
            <a:off x="762000" y="571500"/>
            <a:ext cx="11201400" cy="504825"/>
          </a:xfrm>
          <a:prstGeom prst="rect">
            <a:avLst/>
          </a:prstGeom>
          <a:noFill/>
          <a:ln>
            <a:noFill/>
          </a:ln>
        </p:spPr>
        <p:txBody>
          <a:bodyPr anchorCtr="0" anchor="t" bIns="0" lIns="0" spcFirstLastPara="1" rIns="0" wrap="square" tIns="0">
            <a:spAutoFit/>
          </a:bodyPr>
          <a:lstStyle/>
          <a:p>
            <a:r>
              <a:rPr b="1" i="0" lang="en-US" sz="3150" u="none" cap="none" strike="noStrike">
                <a:solidFill>
                  <a:srgbClr val="1E293B"/>
                </a:solidFill>
                <a:latin typeface="Space Grotesk"/>
                <a:ea typeface="Space Grotesk"/>
                <a:cs typeface="Space Grotesk"/>
                <a:sym typeface="Space Grotesk"/>
              </a:rPr>
              <a:t>Engineering Velocity with Enterprise Control</a:t>
            </a:r>
            <a:endParaRPr/>
          </a:p>
        </p:txBody>
      </p:sp>
      <p:sp>
        <p:nvSpPr>
          <p:cNvPr id="103" name="Google Shape;103;p14"/>
          <p:cNvSpPr txBox="1"/>
          <p:nvPr/>
        </p:nvSpPr>
        <p:spPr>
          <a:xfrm>
            <a:off x="762000" y="1152525"/>
            <a:ext cx="10668000" cy="304800"/>
          </a:xfrm>
          <a:prstGeom prst="rect">
            <a:avLst/>
          </a:prstGeom>
          <a:noFill/>
          <a:ln>
            <a:noFill/>
          </a:ln>
        </p:spPr>
        <p:txBody>
          <a:bodyPr anchorCtr="0" anchor="t" bIns="0" lIns="0" spcFirstLastPara="1" rIns="0" wrap="square" tIns="0">
            <a:spAutoFit/>
          </a:bodyPr>
          <a:lstStyle/>
          <a:p>
            <a:r>
              <a:rPr b="0" i="0" lang="en-US" sz="1500" u="none" cap="none" strike="noStrike">
                <a:solidFill>
                  <a:srgbClr val="6366F1"/>
                </a:solidFill>
                <a:latin typeface="Inter SemiBold"/>
                <a:ea typeface="Inter SemiBold"/>
                <a:cs typeface="Inter SemiBold"/>
                <a:sym typeface="Inter SemiBold"/>
              </a:rPr>
              <a:t>BUILD FASTER WITHOUT LOSING PREDICTABILITY</a:t>
            </a:r>
            <a:endParaRPr/>
          </a:p>
        </p:txBody>
      </p:sp>
      <p:sp>
        <p:nvSpPr>
          <p:cNvPr id="104" name="Google Shape;104;p14"/>
          <p:cNvSpPr txBox="1"/>
          <p:nvPr/>
        </p:nvSpPr>
        <p:spPr>
          <a:xfrm>
            <a:off x="1047750" y="1743075"/>
            <a:ext cx="5442900" cy="54030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ABL gives teams and AI a bounded, compile-validated DSL for multi-agent orchestration.</a:t>
            </a:r>
            <a:endParaRPr/>
          </a:p>
        </p:txBody>
      </p:sp>
      <p:sp>
        <p:nvSpPr>
          <p:cNvPr id="105" name="Google Shape;105;p14"/>
          <p:cNvSpPr txBox="1"/>
          <p:nvPr/>
        </p:nvSpPr>
        <p:spPr>
          <a:xfrm>
            <a:off x="1047750" y="2529775"/>
            <a:ext cx="5442900" cy="54030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Choose Scripted, Reasoning, or Hybrid per flow step, with model tiers tuned for latency/cost/quality.</a:t>
            </a:r>
            <a:endParaRPr/>
          </a:p>
        </p:txBody>
      </p:sp>
      <p:sp>
        <p:nvSpPr>
          <p:cNvPr id="106" name="Google Shape;106;p14"/>
          <p:cNvSpPr txBox="1"/>
          <p:nvPr/>
        </p:nvSpPr>
        <p:spPr>
          <a:xfrm>
            <a:off x="1047750" y="3316475"/>
            <a:ext cx="5442900" cy="54030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Native primitives (supervisor, delegation, handoff, escalation, A2A) standardize patterns across teams.</a:t>
            </a:r>
            <a:endParaRPr/>
          </a:p>
        </p:txBody>
      </p:sp>
      <p:sp>
        <p:nvSpPr>
          <p:cNvPr id="107" name="Google Shape;107;p14"/>
          <p:cNvSpPr txBox="1"/>
          <p:nvPr/>
        </p:nvSpPr>
        <p:spPr>
          <a:xfrm>
            <a:off x="1047750" y="4103200"/>
            <a:ext cx="5442900" cy="54030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Git-native YAML diffs, reviews, and rollback-friendly changes align with current SDLC.</a:t>
            </a:r>
            <a:endParaRPr/>
          </a:p>
        </p:txBody>
      </p:sp>
      <p:pic>
        <p:nvPicPr>
          <p:cNvPr descr="image.png" id="108" name="Google Shape;108;p14"/>
          <p:cNvPicPr preferRelativeResize="0"/>
          <p:nvPr/>
        </p:nvPicPr>
        <p:blipFill rotWithShape="1">
          <a:blip ns2:embed="rId4">
            <a:alphaModFix/>
          </a:blip>
          <a:srcRect b="0" l="0" r="0" t="0"/>
          <a:stretch/>
        </p:blipFill>
        <p:spPr>
          <a:xfrm>
            <a:off x="762000" y="1738312"/>
            <a:ext cx="219075" cy="180975"/>
          </a:xfrm>
          <a:prstGeom prst="rect">
            <a:avLst/>
          </a:prstGeom>
          <a:noFill/>
          <a:ln>
            <a:noFill/>
          </a:ln>
        </p:spPr>
      </p:pic>
      <p:pic>
        <p:nvPicPr>
          <p:cNvPr descr="image.png" id="109" name="Google Shape;109;p14"/>
          <p:cNvPicPr preferRelativeResize="0"/>
          <p:nvPr/>
        </p:nvPicPr>
        <p:blipFill rotWithShape="1">
          <a:blip ns2:embed="rId5">
            <a:alphaModFix/>
          </a:blip>
          <a:srcRect b="0" l="0" r="0" t="0"/>
          <a:stretch/>
        </p:blipFill>
        <p:spPr>
          <a:xfrm>
            <a:off x="762000" y="2525017"/>
            <a:ext cx="152400" cy="180975"/>
          </a:xfrm>
          <a:prstGeom prst="rect">
            <a:avLst/>
          </a:prstGeom>
          <a:noFill/>
          <a:ln>
            <a:noFill/>
          </a:ln>
        </p:spPr>
      </p:pic>
      <p:pic>
        <p:nvPicPr>
          <p:cNvPr descr="image.png" id="110" name="Google Shape;110;p14"/>
          <p:cNvPicPr preferRelativeResize="0"/>
          <p:nvPr/>
        </p:nvPicPr>
        <p:blipFill rotWithShape="1">
          <a:blip ns2:embed="rId6">
            <a:alphaModFix/>
          </a:blip>
          <a:srcRect b="0" l="0" r="0" t="0"/>
          <a:stretch/>
        </p:blipFill>
        <p:spPr>
          <a:xfrm>
            <a:off x="762000" y="3311723"/>
            <a:ext cx="190500" cy="180975"/>
          </a:xfrm>
          <a:prstGeom prst="rect">
            <a:avLst/>
          </a:prstGeom>
          <a:noFill/>
          <a:ln>
            <a:noFill/>
          </a:ln>
        </p:spPr>
      </p:pic>
      <p:pic>
        <p:nvPicPr>
          <p:cNvPr descr="image.png" id="111" name="Google Shape;111;p14"/>
          <p:cNvPicPr preferRelativeResize="0"/>
          <p:nvPr/>
        </p:nvPicPr>
        <p:blipFill rotWithShape="1">
          <a:blip ns2:embed="rId7">
            <a:alphaModFix/>
          </a:blip>
          <a:srcRect b="0" l="0" r="0" t="0"/>
          <a:stretch/>
        </p:blipFill>
        <p:spPr>
          <a:xfrm>
            <a:off x="762000" y="4098428"/>
            <a:ext cx="171450" cy="180975"/>
          </a:xfrm>
          <a:prstGeom prst="rect">
            <a:avLst/>
          </a:prstGeom>
          <a:noFill/>
          <a:ln>
            <a:noFill/>
          </a:ln>
        </p:spPr>
      </p:pic>
      <p:sp>
        <p:nvSpPr>
          <p:cNvPr id="112" name="Google Shape;112;p14"/>
          <p:cNvSpPr txBox="1"/>
          <p:nvPr/>
        </p:nvSpPr>
        <p:spPr>
          <a:xfrm>
            <a:off x="6967175" y="1457325"/>
            <a:ext cx="5022000" cy="4676400"/>
          </a:xfrm>
          <a:prstGeom prst="rect">
            <a:avLst/>
          </a:prstGeom>
          <a:solidFill>
            <a:srgbClr val="1F1F1F"/>
          </a:solidFill>
          <a:ln>
            <a:noFill/>
          </a:ln>
        </p:spPr>
        <p:txBody>
          <a:bodyPr anchorCtr="0" anchor="t" bIns="91425" lIns="91425" spcFirstLastPara="1" rIns="91425" wrap="square" tIns="91425">
            <a:noAutofit/>
          </a:bodyPr>
          <a:lstStyle/>
          <a:p>
            <a:r>
              <a:rPr lang="en-US" sz="900">
                <a:solidFill>
                  <a:srgbClr val="CE9178"/>
                </a:solidFill>
                <a:latin typeface="Courier New"/>
                <a:ea typeface="Courier New"/>
                <a:cs typeface="Courier New"/>
                <a:sym typeface="Courier New"/>
              </a:rPr>
              <a:t>EXISTING CUSTOMER IMPACT</a:t>
            </a:r>
            <a:endParaRPr sz="900">
              <a:solidFill>
                <a:srgbClr val="CE9178"/>
              </a:solidFill>
              <a:latin typeface="Courier New"/>
              <a:ea typeface="Courier New"/>
              <a:cs typeface="Courier New"/>
              <a:sym typeface="Courier New"/>
            </a:endParaRPr>
          </a:p>
          <a:p>
            <a:r>
              <a:rPr lang="en-US" sz="900">
                <a:solidFill>
                  <a:srgbClr val="CE9178"/>
                </a:solidFill>
                <a:latin typeface="Courier New"/>
                <a:ea typeface="Courier New"/>
                <a:cs typeface="Courier New"/>
                <a:sym typeface="Courier New"/>
              </a:rPr>
              <a:t>- Faster cycles from requirement to testable agent behavior</a:t>
            </a:r>
            <a:endParaRPr sz="900">
              <a:solidFill>
                <a:srgbClr val="CE9178"/>
              </a:solidFill>
              <a:latin typeface="Courier New"/>
              <a:ea typeface="Courier New"/>
              <a:cs typeface="Courier New"/>
              <a:sym typeface="Courier New"/>
            </a:endParaRPr>
          </a:p>
          <a:p>
            <a:r>
              <a:rPr lang="en-US" sz="900">
                <a:solidFill>
                  <a:srgbClr val="CE9178"/>
                </a:solidFill>
                <a:latin typeface="Courier New"/>
                <a:ea typeface="Courier New"/>
                <a:cs typeface="Courier New"/>
                <a:sym typeface="Courier New"/>
              </a:rPr>
              <a:t>- Less reinvention of session/orchestration infrastructure</a:t>
            </a:r>
            <a:endParaRPr sz="900">
              <a:solidFill>
                <a:srgbClr val="CE9178"/>
              </a:solidFill>
              <a:latin typeface="Courier New"/>
              <a:ea typeface="Courier New"/>
              <a:cs typeface="Courier New"/>
              <a:sym typeface="Courier New"/>
            </a:endParaRPr>
          </a:p>
          <a:p>
            <a:r>
              <a:rPr lang="en-US" sz="900">
                <a:solidFill>
                  <a:srgbClr val="CE9178"/>
                </a:solidFill>
                <a:latin typeface="Courier New"/>
                <a:ea typeface="Courier New"/>
                <a:cs typeface="Courier New"/>
                <a:sym typeface="Courier New"/>
              </a:rPr>
              <a:t>- Fewer production defects via compile-time checks</a:t>
            </a:r>
            <a:endParaRPr sz="900">
              <a:solidFill>
                <a:srgbClr val="CE9178"/>
              </a:solidFill>
              <a:latin typeface="Courier New"/>
              <a:ea typeface="Courier New"/>
              <a:cs typeface="Courier New"/>
              <a:sym typeface="Courier New"/>
            </a:endParaRPr>
          </a:p>
          <a:p>
            <a:r>
              <a:rPr lang="en-US" sz="900">
                <a:solidFill>
                  <a:srgbClr val="CE9178"/>
                </a:solidFill>
                <a:latin typeface="Courier New"/>
                <a:ea typeface="Courier New"/>
                <a:cs typeface="Courier New"/>
                <a:sym typeface="Courier New"/>
              </a:rPr>
              <a:t>- Stronger AI-assisted development in a structured domain</a:t>
            </a:r>
            <a:endParaRPr sz="900">
              <a:solidFill>
                <a:srgbClr val="CE9178"/>
              </a:solidFill>
              <a:latin typeface="Courier New"/>
              <a:ea typeface="Courier New"/>
              <a:cs typeface="Courier New"/>
              <a:sym typeface="Courier New"/>
            </a:endParaRPr>
          </a:p>
          <a:p>
            <a:r>
              <a:rPr lang="en-US" sz="900">
                <a:solidFill>
                  <a:srgbClr val="CE9178"/>
                </a:solidFill>
                <a:latin typeface="Courier New"/>
                <a:ea typeface="Courier New"/>
                <a:cs typeface="Courier New"/>
                <a:sym typeface="Courier New"/>
              </a:rPr>
              <a:t>- No model lock-in: Arch + ABL work with frontier models</a:t>
            </a:r>
            <a:endParaRPr sz="900">
              <a:solidFill>
                <a:srgbClr val="CE9178"/>
              </a:solidFill>
              <a:latin typeface="Courier New"/>
              <a:ea typeface="Courier New"/>
              <a:cs typeface="Courier New"/>
              <a:sym typeface="Courier New"/>
            </a:endParaRPr>
          </a:p>
        </p:txBody>
      </p:sp>
    </p:spTree>
  </p:cSld>
  <p:clrMapOvr>
    <a:masterClrMapping/>
  </p:clrMapOvr>
</p:sld>
</file>

<file path=ppt/slides/slide3.xml><?xml version="1.0" encoding="utf-8"?>
<p:sld xmlns:a="http://schemas.openxmlformats.org/drawingml/2006/main" xmlns:ns2="http://schemas.openxmlformats.org/officeDocument/2006/relationships" xmlns:p="http://schemas.openxmlformats.org/presentationml/2006/main">
  <p:cSld>
    <p:spTree>
      <p:nvGrpSpPr>
        <p:cNvPr id="116" name="Shape 116"/>
        <p:cNvGrpSpPr/>
        <p:nvPr/>
      </p:nvGrpSpPr>
      <p:grpSpPr>
        <a:xfrm>
          <a:off x="0" y="0"/>
          <a:ext cx="0" cy="0"/>
          <a:chOff x="0" y="0"/>
          <a:chExt cx="0" cy="0"/>
        </a:xfrm>
      </p:grpSpPr>
      <p:pic>
        <p:nvPicPr>
          <p:cNvPr descr="image.png" id="117" name="Google Shape;117;p15"/>
          <p:cNvPicPr preferRelativeResize="0"/>
          <p:nvPr/>
        </p:nvPicPr>
        <p:blipFill rotWithShape="1">
          <a:blip ns2:embed="rId3">
            <a:alphaModFix/>
          </a:blip>
          <a:srcRect b="0" l="0" r="0" t="0"/>
          <a:stretch/>
        </p:blipFill>
        <p:spPr>
          <a:xfrm>
            <a:off x="0" y="0"/>
            <a:ext cx="76200" cy="6858000"/>
          </a:xfrm>
          <a:prstGeom prst="rect">
            <a:avLst/>
          </a:prstGeom>
          <a:noFill/>
          <a:ln>
            <a:noFill/>
          </a:ln>
        </p:spPr>
      </p:pic>
      <p:pic>
        <p:nvPicPr>
          <p:cNvPr descr="image.png" id="118" name="Google Shape;118;p15"/>
          <p:cNvPicPr preferRelativeResize="0"/>
          <p:nvPr/>
        </p:nvPicPr>
        <p:blipFill rotWithShape="1">
          <a:blip ns2:embed="rId4">
            <a:alphaModFix/>
          </a:blip>
          <a:srcRect b="0" l="0" r="0" t="0"/>
          <a:stretch/>
        </p:blipFill>
        <p:spPr>
          <a:xfrm>
            <a:off x="762000" y="1647825"/>
            <a:ext cx="10522425" cy="1021925"/>
          </a:xfrm>
          <a:prstGeom prst="rect">
            <a:avLst/>
          </a:prstGeom>
          <a:noFill/>
          <a:ln>
            <a:noFill/>
          </a:ln>
        </p:spPr>
      </p:pic>
      <p:pic>
        <p:nvPicPr>
          <p:cNvPr descr="image.png" id="119" name="Google Shape;119;p15"/>
          <p:cNvPicPr preferRelativeResize="0"/>
          <p:nvPr/>
        </p:nvPicPr>
        <p:blipFill rotWithShape="1">
          <a:blip ns2:embed="rId4">
            <a:alphaModFix/>
          </a:blip>
          <a:srcRect b="0" l="0" r="0" t="0"/>
          <a:stretch/>
        </p:blipFill>
        <p:spPr>
          <a:xfrm>
            <a:off x="762000" y="3037888"/>
            <a:ext cx="10522425" cy="1021925"/>
          </a:xfrm>
          <a:prstGeom prst="rect">
            <a:avLst/>
          </a:prstGeom>
          <a:noFill/>
          <a:ln>
            <a:noFill/>
          </a:ln>
        </p:spPr>
      </p:pic>
      <p:pic>
        <p:nvPicPr>
          <p:cNvPr descr="image.png" id="120" name="Google Shape;120;p15"/>
          <p:cNvPicPr preferRelativeResize="0"/>
          <p:nvPr/>
        </p:nvPicPr>
        <p:blipFill rotWithShape="1">
          <a:blip ns2:embed="rId5">
            <a:alphaModFix/>
          </a:blip>
          <a:srcRect b="0" l="0" r="0" t="0"/>
          <a:stretch/>
        </p:blipFill>
        <p:spPr>
          <a:xfrm>
            <a:off x="762000" y="4427977"/>
            <a:ext cx="10522425" cy="1021925"/>
          </a:xfrm>
          <a:prstGeom prst="rect">
            <a:avLst/>
          </a:prstGeom>
          <a:noFill/>
          <a:ln>
            <a:noFill/>
          </a:ln>
        </p:spPr>
      </p:pic>
      <p:sp>
        <p:nvSpPr>
          <p:cNvPr id="121" name="Google Shape;121;p15"/>
          <p:cNvSpPr txBox="1"/>
          <p:nvPr/>
        </p:nvSpPr>
        <p:spPr>
          <a:xfrm>
            <a:off x="11449050" y="6410325"/>
            <a:ext cx="1714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a:ea typeface="Inter"/>
                <a:cs typeface="Inter"/>
                <a:sym typeface="Inter"/>
              </a:rPr>
              <a:t>03</a:t>
            </a:r>
            <a:endParaRPr/>
          </a:p>
        </p:txBody>
      </p:sp>
      <p:sp>
        <p:nvSpPr>
          <p:cNvPr id="122" name="Google Shape;122;p15"/>
          <p:cNvSpPr txBox="1"/>
          <p:nvPr/>
        </p:nvSpPr>
        <p:spPr>
          <a:xfrm>
            <a:off x="762000" y="571500"/>
            <a:ext cx="11201400" cy="504825"/>
          </a:xfrm>
          <a:prstGeom prst="rect">
            <a:avLst/>
          </a:prstGeom>
          <a:noFill/>
          <a:ln>
            <a:noFill/>
          </a:ln>
        </p:spPr>
        <p:txBody>
          <a:bodyPr anchorCtr="0" anchor="t" bIns="0" lIns="0" spcFirstLastPara="1" rIns="0" wrap="square" tIns="0">
            <a:spAutoFit/>
          </a:bodyPr>
          <a:lstStyle/>
          <a:p>
            <a:r>
              <a:rPr b="1" i="0" lang="en-US" sz="3150" u="none" cap="none" strike="noStrike">
                <a:solidFill>
                  <a:srgbClr val="1E293B"/>
                </a:solidFill>
                <a:latin typeface="Space Grotesk"/>
                <a:ea typeface="Space Grotesk"/>
                <a:cs typeface="Space Grotesk"/>
                <a:sym typeface="Space Grotesk"/>
              </a:rPr>
              <a:t>Build, Debug, and Operate in the Tools Teams Already Use</a:t>
            </a:r>
            <a:endParaRPr/>
          </a:p>
        </p:txBody>
      </p:sp>
      <p:sp>
        <p:nvSpPr>
          <p:cNvPr id="123" name="Google Shape;123;p15"/>
          <p:cNvSpPr txBox="1"/>
          <p:nvPr/>
        </p:nvSpPr>
        <p:spPr>
          <a:xfrm>
            <a:off x="762000" y="1152525"/>
            <a:ext cx="10668000" cy="304800"/>
          </a:xfrm>
          <a:prstGeom prst="rect">
            <a:avLst/>
          </a:prstGeom>
          <a:noFill/>
          <a:ln>
            <a:noFill/>
          </a:ln>
        </p:spPr>
        <p:txBody>
          <a:bodyPr anchorCtr="0" anchor="t" bIns="0" lIns="0" spcFirstLastPara="1" rIns="0" wrap="square" tIns="0">
            <a:spAutoFit/>
          </a:bodyPr>
          <a:lstStyle/>
          <a:p>
            <a:r>
              <a:rPr b="0" i="0" lang="en-US" sz="1500" u="none" cap="none" strike="noStrike">
                <a:solidFill>
                  <a:srgbClr val="6366F1"/>
                </a:solidFill>
                <a:latin typeface="Inter SemiBold"/>
                <a:ea typeface="Inter SemiBold"/>
                <a:cs typeface="Inter SemiBold"/>
                <a:sym typeface="Inter SemiBold"/>
              </a:rPr>
              <a:t>FROM IDEATION TO LIVE INCIDENT RESOLUTION</a:t>
            </a:r>
            <a:endParaRPr/>
          </a:p>
        </p:txBody>
      </p:sp>
      <p:pic>
        <p:nvPicPr>
          <p:cNvPr descr="image.png" id="124" name="Google Shape;124;p15"/>
          <p:cNvPicPr preferRelativeResize="0"/>
          <p:nvPr/>
        </p:nvPicPr>
        <p:blipFill rotWithShape="1">
          <a:blip ns2:embed="rId6">
            <a:alphaModFix/>
          </a:blip>
          <a:srcRect b="0" l="0" r="0" t="0"/>
          <a:stretch/>
        </p:blipFill>
        <p:spPr>
          <a:xfrm>
            <a:off x="689225" y="5835600"/>
            <a:ext cx="10668000" cy="495300"/>
          </a:xfrm>
          <a:prstGeom prst="rect">
            <a:avLst/>
          </a:prstGeom>
          <a:noFill/>
          <a:ln>
            <a:noFill/>
          </a:ln>
        </p:spPr>
      </p:pic>
      <p:sp>
        <p:nvSpPr>
          <p:cNvPr id="125" name="Google Shape;125;p15"/>
          <p:cNvSpPr txBox="1"/>
          <p:nvPr/>
        </p:nvSpPr>
        <p:spPr>
          <a:xfrm>
            <a:off x="1142406" y="5988000"/>
            <a:ext cx="552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6366F1"/>
                </a:solidFill>
                <a:latin typeface="Inter SemiBold"/>
                <a:ea typeface="Inter SemiBold"/>
                <a:cs typeface="Inter SemiBold"/>
                <a:sym typeface="Inter SemiBold"/>
              </a:rPr>
              <a:t>IDEATE</a:t>
            </a:r>
            <a:endParaRPr/>
          </a:p>
        </p:txBody>
      </p:sp>
      <p:pic>
        <p:nvPicPr>
          <p:cNvPr descr="image.png" id="126" name="Google Shape;126;p15"/>
          <p:cNvPicPr preferRelativeResize="0"/>
          <p:nvPr/>
        </p:nvPicPr>
        <p:blipFill rotWithShape="1">
          <a:blip ns2:embed="rId7">
            <a:alphaModFix/>
          </a:blip>
          <a:srcRect b="0" l="0" r="0" t="0"/>
          <a:stretch/>
        </p:blipFill>
        <p:spPr>
          <a:xfrm>
            <a:off x="2296568" y="5988000"/>
            <a:ext cx="95250" cy="190500"/>
          </a:xfrm>
          <a:prstGeom prst="rect">
            <a:avLst/>
          </a:prstGeom>
          <a:noFill/>
          <a:ln>
            <a:noFill/>
          </a:ln>
        </p:spPr>
      </p:pic>
      <p:sp>
        <p:nvSpPr>
          <p:cNvPr id="127" name="Google Shape;127;p15"/>
          <p:cNvSpPr txBox="1"/>
          <p:nvPr/>
        </p:nvSpPr>
        <p:spPr>
          <a:xfrm>
            <a:off x="2812624" y="5988000"/>
            <a:ext cx="752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DESIGN</a:t>
            </a:r>
            <a:endParaRPr/>
          </a:p>
        </p:txBody>
      </p:sp>
      <p:pic>
        <p:nvPicPr>
          <p:cNvPr descr="image.png" id="128" name="Google Shape;128;p15"/>
          <p:cNvPicPr preferRelativeResize="0"/>
          <p:nvPr/>
        </p:nvPicPr>
        <p:blipFill rotWithShape="1">
          <a:blip ns2:embed="rId8">
            <a:alphaModFix/>
          </a:blip>
          <a:srcRect b="0" l="0" r="0" t="0"/>
          <a:stretch/>
        </p:blipFill>
        <p:spPr>
          <a:xfrm>
            <a:off x="4166742" y="5988000"/>
            <a:ext cx="95250" cy="190500"/>
          </a:xfrm>
          <a:prstGeom prst="rect">
            <a:avLst/>
          </a:prstGeom>
          <a:noFill/>
          <a:ln>
            <a:noFill/>
          </a:ln>
        </p:spPr>
      </p:pic>
      <p:sp>
        <p:nvSpPr>
          <p:cNvPr id="129" name="Google Shape;129;p15"/>
          <p:cNvSpPr txBox="1"/>
          <p:nvPr/>
        </p:nvSpPr>
        <p:spPr>
          <a:xfrm>
            <a:off x="4863705" y="5988000"/>
            <a:ext cx="457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BUILD</a:t>
            </a:r>
            <a:endParaRPr/>
          </a:p>
        </p:txBody>
      </p:sp>
      <p:pic>
        <p:nvPicPr>
          <p:cNvPr descr="image.png" id="130" name="Google Shape;130;p15"/>
          <p:cNvPicPr preferRelativeResize="0"/>
          <p:nvPr/>
        </p:nvPicPr>
        <p:blipFill rotWithShape="1">
          <a:blip ns2:embed="rId7">
            <a:alphaModFix/>
          </a:blip>
          <a:srcRect b="0" l="0" r="0" t="0"/>
          <a:stretch/>
        </p:blipFill>
        <p:spPr>
          <a:xfrm>
            <a:off x="5922617" y="5988000"/>
            <a:ext cx="95250" cy="190500"/>
          </a:xfrm>
          <a:prstGeom prst="rect">
            <a:avLst/>
          </a:prstGeom>
          <a:noFill/>
          <a:ln>
            <a:noFill/>
          </a:ln>
        </p:spPr>
      </p:pic>
      <p:sp>
        <p:nvSpPr>
          <p:cNvPr id="131" name="Google Shape;131;p15"/>
          <p:cNvSpPr txBox="1"/>
          <p:nvPr/>
        </p:nvSpPr>
        <p:spPr>
          <a:xfrm>
            <a:off x="6619579" y="5988000"/>
            <a:ext cx="4002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TEST</a:t>
            </a:r>
            <a:endParaRPr/>
          </a:p>
        </p:txBody>
      </p:sp>
      <p:pic>
        <p:nvPicPr>
          <p:cNvPr descr="image.png" id="132" name="Google Shape;132;p15"/>
          <p:cNvPicPr preferRelativeResize="0"/>
          <p:nvPr/>
        </p:nvPicPr>
        <p:blipFill rotWithShape="1">
          <a:blip ns2:embed="rId7">
            <a:alphaModFix/>
          </a:blip>
          <a:srcRect b="0" l="0" r="0" t="0"/>
          <a:stretch/>
        </p:blipFill>
        <p:spPr>
          <a:xfrm>
            <a:off x="7621341" y="5988000"/>
            <a:ext cx="95250" cy="190500"/>
          </a:xfrm>
          <a:prstGeom prst="rect">
            <a:avLst/>
          </a:prstGeom>
          <a:noFill/>
          <a:ln>
            <a:noFill/>
          </a:ln>
        </p:spPr>
      </p:pic>
      <p:sp>
        <p:nvSpPr>
          <p:cNvPr id="133" name="Google Shape;133;p15"/>
          <p:cNvSpPr txBox="1"/>
          <p:nvPr/>
        </p:nvSpPr>
        <p:spPr>
          <a:xfrm>
            <a:off x="8165824" y="5988000"/>
            <a:ext cx="7524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DEPLOY</a:t>
            </a:r>
            <a:endParaRPr/>
          </a:p>
        </p:txBody>
      </p:sp>
      <p:pic>
        <p:nvPicPr>
          <p:cNvPr descr="image.png" id="134" name="Google Shape;134;p15"/>
          <p:cNvPicPr preferRelativeResize="0"/>
          <p:nvPr/>
        </p:nvPicPr>
        <p:blipFill rotWithShape="1">
          <a:blip ns2:embed="rId8">
            <a:alphaModFix/>
          </a:blip>
          <a:srcRect b="0" l="0" r="0" t="0"/>
          <a:stretch/>
        </p:blipFill>
        <p:spPr>
          <a:xfrm>
            <a:off x="9520090" y="5988000"/>
            <a:ext cx="95250" cy="190500"/>
          </a:xfrm>
          <a:prstGeom prst="rect">
            <a:avLst/>
          </a:prstGeom>
          <a:noFill/>
          <a:ln>
            <a:noFill/>
          </a:ln>
        </p:spPr>
      </p:pic>
      <p:sp>
        <p:nvSpPr>
          <p:cNvPr id="135" name="Google Shape;135;p15"/>
          <p:cNvSpPr txBox="1"/>
          <p:nvPr/>
        </p:nvSpPr>
        <p:spPr>
          <a:xfrm>
            <a:off x="10074325" y="5988000"/>
            <a:ext cx="828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0F172A"/>
                </a:solidFill>
                <a:latin typeface="Inter SemiBold"/>
                <a:ea typeface="Inter SemiBold"/>
                <a:cs typeface="Inter SemiBold"/>
                <a:sym typeface="Inter SemiBold"/>
              </a:rPr>
              <a:t>IMPROVE</a:t>
            </a:r>
            <a:endParaRPr/>
          </a:p>
        </p:txBody>
      </p:sp>
      <p:sp>
        <p:nvSpPr>
          <p:cNvPr id="136" name="Google Shape;136;p15"/>
          <p:cNvSpPr txBox="1"/>
          <p:nvPr/>
        </p:nvSpPr>
        <p:spPr>
          <a:xfrm>
            <a:off x="962025" y="2257425"/>
            <a:ext cx="10013700" cy="18480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Studio accelerates topology design, collaborative editing, and environment-aware deployment.</a:t>
            </a:r>
            <a:endParaRPr/>
          </a:p>
        </p:txBody>
      </p:sp>
      <p:sp>
        <p:nvSpPr>
          <p:cNvPr id="137" name="Google Shape;137;p15"/>
          <p:cNvSpPr txBox="1"/>
          <p:nvPr/>
        </p:nvSpPr>
        <p:spPr>
          <a:xfrm>
            <a:off x="1178964" y="3607457"/>
            <a:ext cx="9688500" cy="18480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MCP Debug Server (18 tools) connects Claude Code, Cursor, or any MCP AI directly to runtime.</a:t>
            </a:r>
            <a:endParaRPr/>
          </a:p>
        </p:txBody>
      </p:sp>
      <p:sp>
        <p:nvSpPr>
          <p:cNvPr id="138" name="Google Shape;138;p15"/>
          <p:cNvSpPr txBox="1"/>
          <p:nvPr/>
        </p:nvSpPr>
        <p:spPr>
          <a:xfrm>
            <a:off x="1178926" y="4908221"/>
            <a:ext cx="9688500" cy="18480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Trace-level explainability shows every LLM call, tool execution, decision, and handoff to speed root-cause analysis.</a:t>
            </a:r>
            <a:endParaRPr/>
          </a:p>
        </p:txBody>
      </p:sp>
      <p:pic>
        <p:nvPicPr>
          <p:cNvPr descr="image.png" id="139" name="Google Shape;139;p15"/>
          <p:cNvPicPr preferRelativeResize="0"/>
          <p:nvPr/>
        </p:nvPicPr>
        <p:blipFill rotWithShape="1">
          <a:blip ns2:embed="rId9">
            <a:alphaModFix/>
          </a:blip>
          <a:srcRect b="0" l="0" r="0" t="0"/>
          <a:stretch/>
        </p:blipFill>
        <p:spPr>
          <a:xfrm>
            <a:off x="962025" y="1866900"/>
            <a:ext cx="257175" cy="228600"/>
          </a:xfrm>
          <a:prstGeom prst="rect">
            <a:avLst/>
          </a:prstGeom>
          <a:noFill/>
          <a:ln>
            <a:noFill/>
          </a:ln>
        </p:spPr>
      </p:pic>
      <p:sp>
        <p:nvSpPr>
          <p:cNvPr id="140" name="Google Shape;140;p15"/>
          <p:cNvSpPr txBox="1"/>
          <p:nvPr/>
        </p:nvSpPr>
        <p:spPr>
          <a:xfrm>
            <a:off x="1362075" y="1847850"/>
            <a:ext cx="3030378" cy="2667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Any IDE + Any AI</a:t>
            </a:r>
            <a:endParaRPr/>
          </a:p>
        </p:txBody>
      </p:sp>
      <p:pic>
        <p:nvPicPr>
          <p:cNvPr descr="image.png" id="141" name="Google Shape;141;p15"/>
          <p:cNvPicPr preferRelativeResize="0"/>
          <p:nvPr/>
        </p:nvPicPr>
        <p:blipFill rotWithShape="1">
          <a:blip ns2:embed="rId10">
            <a:alphaModFix/>
          </a:blip>
          <a:srcRect b="0" l="0" r="0" t="0"/>
          <a:stretch/>
        </p:blipFill>
        <p:spPr>
          <a:xfrm>
            <a:off x="962025" y="3256973"/>
            <a:ext cx="228600" cy="228600"/>
          </a:xfrm>
          <a:prstGeom prst="rect">
            <a:avLst/>
          </a:prstGeom>
          <a:noFill/>
          <a:ln>
            <a:noFill/>
          </a:ln>
        </p:spPr>
      </p:pic>
      <p:sp>
        <p:nvSpPr>
          <p:cNvPr id="142" name="Google Shape;142;p15"/>
          <p:cNvSpPr txBox="1"/>
          <p:nvPr/>
        </p:nvSpPr>
        <p:spPr>
          <a:xfrm>
            <a:off x="1333500" y="3237923"/>
            <a:ext cx="1670100" cy="2541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Ship Faster</a:t>
            </a:r>
            <a:endParaRPr/>
          </a:p>
        </p:txBody>
      </p:sp>
      <p:pic>
        <p:nvPicPr>
          <p:cNvPr descr="image.png" id="143" name="Google Shape;143;p15"/>
          <p:cNvPicPr preferRelativeResize="0"/>
          <p:nvPr/>
        </p:nvPicPr>
        <p:blipFill rotWithShape="1">
          <a:blip ns2:embed="rId11">
            <a:alphaModFix/>
          </a:blip>
          <a:srcRect b="0" l="0" r="0" t="0"/>
          <a:stretch/>
        </p:blipFill>
        <p:spPr>
          <a:xfrm>
            <a:off x="962025" y="4647048"/>
            <a:ext cx="228600" cy="228600"/>
          </a:xfrm>
          <a:prstGeom prst="rect">
            <a:avLst/>
          </a:prstGeom>
          <a:noFill/>
          <a:ln>
            <a:noFill/>
          </a:ln>
        </p:spPr>
      </p:pic>
      <p:sp>
        <p:nvSpPr>
          <p:cNvPr id="144" name="Google Shape;144;p15"/>
          <p:cNvSpPr txBox="1"/>
          <p:nvPr/>
        </p:nvSpPr>
        <p:spPr>
          <a:xfrm>
            <a:off x="1333500" y="4627998"/>
            <a:ext cx="1460100" cy="2541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Fix Faster</a:t>
            </a:r>
            <a:endParaRPr/>
          </a:p>
        </p:txBody>
      </p:sp>
    </p:spTree>
  </p:cSld>
  <p:clrMapOvr>
    <a:masterClrMapping/>
  </p:clrMapOvr>
</p:sld>
</file>

<file path=ppt/slides/slide4.xml><?xml version="1.0" encoding="utf-8"?>
<p:sld xmlns:a="http://schemas.openxmlformats.org/drawingml/2006/main" xmlns:ns2="http://schemas.openxmlformats.org/officeDocument/2006/relationships" xmlns:p="http://schemas.openxmlformats.org/presentationml/2006/main">
  <p:cSld>
    <p:spTree>
      <p:nvGrpSpPr>
        <p:cNvPr id="148" name="Shape 148"/>
        <p:cNvGrpSpPr/>
        <p:nvPr/>
      </p:nvGrpSpPr>
      <p:grpSpPr>
        <a:xfrm>
          <a:off x="0" y="0"/>
          <a:ext cx="0" cy="0"/>
          <a:chOff x="0" y="0"/>
          <a:chExt cx="0" cy="0"/>
        </a:xfrm>
      </p:grpSpPr>
      <p:pic>
        <p:nvPicPr>
          <p:cNvPr descr="image.png" id="149" name="Google Shape;149;p16"/>
          <p:cNvPicPr preferRelativeResize="0"/>
          <p:nvPr/>
        </p:nvPicPr>
        <p:blipFill rotWithShape="1">
          <a:blip ns2:embed="rId3">
            <a:alphaModFix/>
          </a:blip>
          <a:srcRect b="0" l="0" r="0" t="0"/>
          <a:stretch/>
        </p:blipFill>
        <p:spPr>
          <a:xfrm>
            <a:off x="0" y="0"/>
            <a:ext cx="76200" cy="6858000"/>
          </a:xfrm>
          <a:prstGeom prst="rect">
            <a:avLst/>
          </a:prstGeom>
          <a:noFill/>
          <a:ln>
            <a:noFill/>
          </a:ln>
        </p:spPr>
      </p:pic>
      <p:pic>
        <p:nvPicPr>
          <p:cNvPr descr="image.png" id="150" name="Google Shape;150;p16"/>
          <p:cNvPicPr preferRelativeResize="0"/>
          <p:nvPr/>
        </p:nvPicPr>
        <p:blipFill rotWithShape="1">
          <a:blip ns2:embed="rId4">
            <a:alphaModFix/>
          </a:blip>
          <a:srcRect b="0" l="0" r="0" t="0"/>
          <a:stretch/>
        </p:blipFill>
        <p:spPr>
          <a:xfrm>
            <a:off x="762000" y="1743075"/>
            <a:ext cx="5191125" cy="2128837"/>
          </a:xfrm>
          <a:prstGeom prst="rect">
            <a:avLst/>
          </a:prstGeom>
          <a:noFill/>
          <a:ln>
            <a:noFill/>
          </a:ln>
        </p:spPr>
      </p:pic>
      <p:pic>
        <p:nvPicPr>
          <p:cNvPr descr="image.png" id="151" name="Google Shape;151;p16"/>
          <p:cNvPicPr preferRelativeResize="0"/>
          <p:nvPr/>
        </p:nvPicPr>
        <p:blipFill rotWithShape="1">
          <a:blip ns2:embed="rId4">
            <a:alphaModFix/>
          </a:blip>
          <a:srcRect b="0" l="0" r="0" t="0"/>
          <a:stretch/>
        </p:blipFill>
        <p:spPr>
          <a:xfrm>
            <a:off x="6238875" y="1743075"/>
            <a:ext cx="5191125" cy="2128837"/>
          </a:xfrm>
          <a:prstGeom prst="rect">
            <a:avLst/>
          </a:prstGeom>
          <a:noFill/>
          <a:ln>
            <a:noFill/>
          </a:ln>
        </p:spPr>
      </p:pic>
      <p:pic>
        <p:nvPicPr>
          <p:cNvPr descr="image.png" id="152" name="Google Shape;152;p16"/>
          <p:cNvPicPr preferRelativeResize="0"/>
          <p:nvPr/>
        </p:nvPicPr>
        <p:blipFill rotWithShape="1">
          <a:blip ns2:embed="rId5">
            <a:alphaModFix/>
          </a:blip>
          <a:srcRect b="0" l="0" r="0" t="0"/>
          <a:stretch/>
        </p:blipFill>
        <p:spPr>
          <a:xfrm>
            <a:off x="762000" y="4157662"/>
            <a:ext cx="5191125" cy="2128837"/>
          </a:xfrm>
          <a:prstGeom prst="rect">
            <a:avLst/>
          </a:prstGeom>
          <a:noFill/>
          <a:ln>
            <a:noFill/>
          </a:ln>
        </p:spPr>
      </p:pic>
      <p:pic>
        <p:nvPicPr>
          <p:cNvPr descr="image.png" id="153" name="Google Shape;153;p16"/>
          <p:cNvPicPr preferRelativeResize="0"/>
          <p:nvPr/>
        </p:nvPicPr>
        <p:blipFill rotWithShape="1">
          <a:blip ns2:embed="rId5">
            <a:alphaModFix/>
          </a:blip>
          <a:srcRect b="0" l="0" r="0" t="0"/>
          <a:stretch/>
        </p:blipFill>
        <p:spPr>
          <a:xfrm>
            <a:off x="6238875" y="4157662"/>
            <a:ext cx="5191125" cy="2128837"/>
          </a:xfrm>
          <a:prstGeom prst="rect">
            <a:avLst/>
          </a:prstGeom>
          <a:noFill/>
          <a:ln>
            <a:noFill/>
          </a:ln>
        </p:spPr>
      </p:pic>
      <p:sp>
        <p:nvSpPr>
          <p:cNvPr id="154" name="Google Shape;154;p16"/>
          <p:cNvSpPr txBox="1"/>
          <p:nvPr/>
        </p:nvSpPr>
        <p:spPr>
          <a:xfrm>
            <a:off x="11449050" y="6410325"/>
            <a:ext cx="1714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a:ea typeface="Inter"/>
                <a:cs typeface="Inter"/>
                <a:sym typeface="Inter"/>
              </a:rPr>
              <a:t>04</a:t>
            </a:r>
            <a:endParaRPr/>
          </a:p>
        </p:txBody>
      </p:sp>
      <p:sp>
        <p:nvSpPr>
          <p:cNvPr id="155" name="Google Shape;155;p16"/>
          <p:cNvSpPr txBox="1"/>
          <p:nvPr/>
        </p:nvSpPr>
        <p:spPr>
          <a:xfrm>
            <a:off x="762000" y="571500"/>
            <a:ext cx="11201400" cy="504825"/>
          </a:xfrm>
          <a:prstGeom prst="rect">
            <a:avLst/>
          </a:prstGeom>
          <a:noFill/>
          <a:ln>
            <a:noFill/>
          </a:ln>
        </p:spPr>
        <p:txBody>
          <a:bodyPr anchorCtr="0" anchor="t" bIns="0" lIns="0" spcFirstLastPara="1" rIns="0" wrap="square" tIns="0">
            <a:spAutoFit/>
          </a:bodyPr>
          <a:lstStyle/>
          <a:p>
            <a:r>
              <a:rPr b="1" i="0" lang="en-US" sz="3150" u="none" cap="none" strike="noStrike">
                <a:solidFill>
                  <a:srgbClr val="1E293B"/>
                </a:solidFill>
                <a:latin typeface="Space Grotesk"/>
                <a:ea typeface="Space Grotesk"/>
                <a:cs typeface="Space Grotesk"/>
                <a:sym typeface="Space Grotesk"/>
              </a:rPr>
              <a:t>Production Platform Advantages</a:t>
            </a:r>
            <a:endParaRPr/>
          </a:p>
        </p:txBody>
      </p:sp>
      <p:sp>
        <p:nvSpPr>
          <p:cNvPr id="156" name="Google Shape;156;p16"/>
          <p:cNvSpPr txBox="1"/>
          <p:nvPr/>
        </p:nvSpPr>
        <p:spPr>
          <a:xfrm>
            <a:off x="762000" y="1152525"/>
            <a:ext cx="10668000" cy="304800"/>
          </a:xfrm>
          <a:prstGeom prst="rect">
            <a:avLst/>
          </a:prstGeom>
          <a:noFill/>
          <a:ln>
            <a:noFill/>
          </a:ln>
        </p:spPr>
        <p:txBody>
          <a:bodyPr anchorCtr="0" anchor="t" bIns="0" lIns="0" spcFirstLastPara="1" rIns="0" wrap="square" tIns="0">
            <a:spAutoFit/>
          </a:bodyPr>
          <a:lstStyle/>
          <a:p>
            <a:r>
              <a:rPr b="0" i="0" lang="en-US" sz="1500" u="none" cap="none" strike="noStrike">
                <a:solidFill>
                  <a:srgbClr val="6366F1"/>
                </a:solidFill>
                <a:latin typeface="Inter SemiBold"/>
                <a:ea typeface="Inter SemiBold"/>
                <a:cs typeface="Inter SemiBold"/>
                <a:sym typeface="Inter SemiBold"/>
              </a:rPr>
              <a:t>THE CAPABILITIES THAT MATTER AFTER GO-LIVE</a:t>
            </a:r>
            <a:endParaRPr/>
          </a:p>
        </p:txBody>
      </p:sp>
      <p:pic>
        <p:nvPicPr>
          <p:cNvPr descr="image.png" id="157" name="Google Shape;157;p16"/>
          <p:cNvPicPr preferRelativeResize="0"/>
          <p:nvPr/>
        </p:nvPicPr>
        <p:blipFill rotWithShape="1">
          <a:blip ns2:embed="rId6">
            <a:alphaModFix/>
          </a:blip>
          <a:srcRect b="0" l="0" r="0" t="0"/>
          <a:stretch/>
        </p:blipFill>
        <p:spPr>
          <a:xfrm>
            <a:off x="1057275" y="2038350"/>
            <a:ext cx="4600575" cy="304800"/>
          </a:xfrm>
          <a:prstGeom prst="rect">
            <a:avLst/>
          </a:prstGeom>
          <a:noFill/>
          <a:ln>
            <a:noFill/>
          </a:ln>
        </p:spPr>
      </p:pic>
      <p:sp>
        <p:nvSpPr>
          <p:cNvPr id="158" name="Google Shape;158;p16"/>
          <p:cNvSpPr txBox="1"/>
          <p:nvPr/>
        </p:nvSpPr>
        <p:spPr>
          <a:xfrm>
            <a:off x="1057275" y="2533650"/>
            <a:ext cx="4830603" cy="2667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Distributed Runtime + Session Durability</a:t>
            </a:r>
            <a:endParaRPr/>
          </a:p>
        </p:txBody>
      </p:sp>
      <p:sp>
        <p:nvSpPr>
          <p:cNvPr id="159" name="Google Shape;159;p16"/>
          <p:cNvSpPr txBox="1"/>
          <p:nvPr/>
        </p:nvSpPr>
        <p:spPr>
          <a:xfrm>
            <a:off x="1057275" y="2943225"/>
            <a:ext cx="4600575" cy="457200"/>
          </a:xfrm>
          <a:prstGeom prst="rect">
            <a:avLst/>
          </a:prstGeom>
          <a:noFill/>
          <a:ln>
            <a:noFill/>
          </a:ln>
        </p:spPr>
        <p:txBody>
          <a:bodyPr anchorCtr="0" anchor="t" bIns="0" lIns="0" spcFirstLastPara="1" rIns="0" wrap="square" tIns="0">
            <a:spAutoFit/>
          </a:bodyPr>
          <a:lstStyle/>
          <a:p>
            <a:r>
              <a:rPr b="0" i="0" lang="en-US" sz="1125" u="none" cap="none" strike="noStrike">
                <a:solidFill>
                  <a:srgbClr val="475569"/>
                </a:solidFill>
                <a:latin typeface="Inter"/>
                <a:ea typeface="Inter"/>
                <a:cs typeface="Inter"/>
                <a:sym typeface="Inter"/>
              </a:rPr>
              <a:t>Pod-agnostic rehydration, safe concurrency, and cross-channel continuity survive restarts and autoscaling.</a:t>
            </a:r>
            <a:endParaRPr/>
          </a:p>
        </p:txBody>
      </p:sp>
      <p:pic>
        <p:nvPicPr>
          <p:cNvPr descr="image.png" id="160" name="Google Shape;160;p16"/>
          <p:cNvPicPr preferRelativeResize="0"/>
          <p:nvPr/>
        </p:nvPicPr>
        <p:blipFill rotWithShape="1">
          <a:blip ns2:embed="rId7">
            <a:alphaModFix/>
          </a:blip>
          <a:srcRect b="0" l="0" r="0" t="0"/>
          <a:stretch/>
        </p:blipFill>
        <p:spPr>
          <a:xfrm>
            <a:off x="6534150" y="2038350"/>
            <a:ext cx="4600575" cy="304800"/>
          </a:xfrm>
          <a:prstGeom prst="rect">
            <a:avLst/>
          </a:prstGeom>
          <a:noFill/>
          <a:ln>
            <a:noFill/>
          </a:ln>
        </p:spPr>
      </p:pic>
      <p:sp>
        <p:nvSpPr>
          <p:cNvPr id="161" name="Google Shape;161;p16"/>
          <p:cNvSpPr txBox="1"/>
          <p:nvPr/>
        </p:nvSpPr>
        <p:spPr>
          <a:xfrm>
            <a:off x="6534150" y="2533650"/>
            <a:ext cx="4830603" cy="2667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Deterministic Safety + Compliance</a:t>
            </a:r>
            <a:endParaRPr/>
          </a:p>
        </p:txBody>
      </p:sp>
      <p:sp>
        <p:nvSpPr>
          <p:cNvPr id="162" name="Google Shape;162;p16"/>
          <p:cNvSpPr txBox="1"/>
          <p:nvPr/>
        </p:nvSpPr>
        <p:spPr>
          <a:xfrm>
            <a:off x="6534150" y="2943225"/>
            <a:ext cx="4600500" cy="727200"/>
          </a:xfrm>
          <a:prstGeom prst="rect">
            <a:avLst/>
          </a:prstGeom>
          <a:noFill/>
          <a:ln>
            <a:noFill/>
          </a:ln>
        </p:spPr>
        <p:txBody>
          <a:bodyPr anchorCtr="0" anchor="t" bIns="0" lIns="0" spcFirstLastPara="1" rIns="0" wrap="square" tIns="0">
            <a:spAutoFit/>
          </a:bodyPr>
          <a:lstStyle/>
          <a:p>
            <a:r>
              <a:rPr lang="en-US" sz="1125">
                <a:solidFill>
                  <a:srgbClr val="475569"/>
                </a:solidFill>
                <a:latin typeface="Inter"/>
                <a:ea typeface="Inter"/>
                <a:cs typeface="Inter"/>
                <a:sym typeface="Inter"/>
              </a:rPr>
              <a:t>3-tier guardrails, tenant isolation, encryption, right-to-erasure, audit trail, and sovereignty controls by design.</a:t>
            </a:r>
            <a:endParaRPr/>
          </a:p>
        </p:txBody>
      </p:sp>
      <p:pic>
        <p:nvPicPr>
          <p:cNvPr descr="image.png" id="163" name="Google Shape;163;p16"/>
          <p:cNvPicPr preferRelativeResize="0"/>
          <p:nvPr/>
        </p:nvPicPr>
        <p:blipFill rotWithShape="1">
          <a:blip ns2:embed="rId8">
            <a:alphaModFix/>
          </a:blip>
          <a:srcRect b="0" l="0" r="0" t="0"/>
          <a:stretch/>
        </p:blipFill>
        <p:spPr>
          <a:xfrm>
            <a:off x="1057275" y="4452937"/>
            <a:ext cx="4600575" cy="304800"/>
          </a:xfrm>
          <a:prstGeom prst="rect">
            <a:avLst/>
          </a:prstGeom>
          <a:noFill/>
          <a:ln>
            <a:noFill/>
          </a:ln>
        </p:spPr>
      </p:pic>
      <p:sp>
        <p:nvSpPr>
          <p:cNvPr id="164" name="Google Shape;164;p16"/>
          <p:cNvSpPr txBox="1"/>
          <p:nvPr/>
        </p:nvSpPr>
        <p:spPr>
          <a:xfrm>
            <a:off x="1057275" y="4948237"/>
            <a:ext cx="4830603" cy="2667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Version &amp; Deployment Management</a:t>
            </a:r>
            <a:endParaRPr/>
          </a:p>
        </p:txBody>
      </p:sp>
      <p:sp>
        <p:nvSpPr>
          <p:cNvPr id="165" name="Google Shape;165;p16"/>
          <p:cNvSpPr txBox="1"/>
          <p:nvPr/>
        </p:nvSpPr>
        <p:spPr>
          <a:xfrm>
            <a:off x="1057275" y="5357812"/>
            <a:ext cx="4600500" cy="727200"/>
          </a:xfrm>
          <a:prstGeom prst="rect">
            <a:avLst/>
          </a:prstGeom>
          <a:noFill/>
          <a:ln>
            <a:noFill/>
          </a:ln>
        </p:spPr>
        <p:txBody>
          <a:bodyPr anchorCtr="0" anchor="t" bIns="0" lIns="0" spcFirstLastPara="1" rIns="0" wrap="square" tIns="0">
            <a:spAutoFit/>
          </a:bodyPr>
          <a:lstStyle/>
          <a:p>
            <a:r>
              <a:rPr lang="en-US" sz="1125">
                <a:solidFill>
                  <a:srgbClr val="475569"/>
                </a:solidFill>
                <a:latin typeface="Inter"/>
                <a:ea typeface="Inter"/>
                <a:cs typeface="Inter"/>
                <a:sym typeface="Inter"/>
              </a:rPr>
              <a:t>Immutable deployments, environment-scoped config, explicit release governance, and instant rollback.</a:t>
            </a:r>
            <a:endParaRPr/>
          </a:p>
        </p:txBody>
      </p:sp>
      <p:pic>
        <p:nvPicPr>
          <p:cNvPr descr="image.png" id="166" name="Google Shape;166;p16"/>
          <p:cNvPicPr preferRelativeResize="0"/>
          <p:nvPr/>
        </p:nvPicPr>
        <p:blipFill rotWithShape="1">
          <a:blip ns2:embed="rId9">
            <a:alphaModFix/>
          </a:blip>
          <a:srcRect b="0" l="0" r="0" t="0"/>
          <a:stretch/>
        </p:blipFill>
        <p:spPr>
          <a:xfrm>
            <a:off x="6534150" y="4452937"/>
            <a:ext cx="4600575" cy="304800"/>
          </a:xfrm>
          <a:prstGeom prst="rect">
            <a:avLst/>
          </a:prstGeom>
          <a:noFill/>
          <a:ln>
            <a:noFill/>
          </a:ln>
        </p:spPr>
      </p:pic>
      <p:sp>
        <p:nvSpPr>
          <p:cNvPr id="167" name="Google Shape;167;p16"/>
          <p:cNvSpPr txBox="1"/>
          <p:nvPr/>
        </p:nvSpPr>
        <p:spPr>
          <a:xfrm>
            <a:off x="6534150" y="4948237"/>
            <a:ext cx="4830603" cy="266700"/>
          </a:xfrm>
          <a:prstGeom prst="rect">
            <a:avLst/>
          </a:prstGeom>
          <a:noFill/>
          <a:ln>
            <a:noFill/>
          </a:ln>
        </p:spPr>
        <p:txBody>
          <a:bodyPr anchorCtr="0" anchor="t" bIns="0" lIns="0" spcFirstLastPara="1" rIns="0" wrap="square" tIns="0">
            <a:spAutoFit/>
          </a:bodyPr>
          <a:lstStyle/>
          <a:p>
            <a:r>
              <a:rPr b="1" i="0" lang="en-US" sz="1650" u="none" cap="none" strike="noStrike">
                <a:solidFill>
                  <a:srgbClr val="1E293B"/>
                </a:solidFill>
                <a:latin typeface="Space Grotesk"/>
                <a:ea typeface="Space Grotesk"/>
                <a:cs typeface="Space Grotesk"/>
                <a:sym typeface="Space Grotesk"/>
              </a:rPr>
              <a:t>Lower VPC Infrastructure Footprint</a:t>
            </a:r>
            <a:endParaRPr/>
          </a:p>
        </p:txBody>
      </p:sp>
      <p:sp>
        <p:nvSpPr>
          <p:cNvPr id="168" name="Google Shape;168;p16"/>
          <p:cNvSpPr txBox="1"/>
          <p:nvPr/>
        </p:nvSpPr>
        <p:spPr>
          <a:xfrm>
            <a:off x="6534150" y="5357812"/>
            <a:ext cx="4600500" cy="450300"/>
          </a:xfrm>
          <a:prstGeom prst="rect">
            <a:avLst/>
          </a:prstGeom>
          <a:noFill/>
          <a:ln>
            <a:noFill/>
          </a:ln>
        </p:spPr>
        <p:txBody>
          <a:bodyPr anchorCtr="0" anchor="t" bIns="0" lIns="0" spcFirstLastPara="1" rIns="0" wrap="square" tIns="0">
            <a:spAutoFit/>
          </a:bodyPr>
          <a:lstStyle/>
          <a:p>
            <a:r>
              <a:rPr b="0" i="0" lang="en-US" sz="1125" u="none" cap="none" strike="noStrike">
                <a:solidFill>
                  <a:srgbClr val="475569"/>
                </a:solidFill>
                <a:latin typeface="Inter"/>
                <a:ea typeface="Inter"/>
                <a:cs typeface="Inter"/>
                <a:sym typeface="Inter"/>
              </a:rPr>
              <a:t>Rearchitected stateless runtime reduces hardware demand for VPC customers while preserving enterprise reliability.</a:t>
            </a:r>
            <a:endParaRPr/>
          </a:p>
        </p:txBody>
      </p:sp>
    </p:spTree>
  </p:cSld>
  <p:clrMapOvr>
    <a:masterClrMapping/>
  </p:clrMapOvr>
</p:sld>
</file>

<file path=ppt/slides/slide5.xml><?xml version="1.0" encoding="utf-8"?>
<p:sld xmlns:a="http://schemas.openxmlformats.org/drawingml/2006/main" xmlns:ns2="http://schemas.openxmlformats.org/officeDocument/2006/relationships" xmlns:p="http://schemas.openxmlformats.org/presentationml/2006/main">
  <p:cSld>
    <p:spTree>
      <p:nvGrpSpPr>
        <p:cNvPr id="172" name="Shape 172"/>
        <p:cNvGrpSpPr/>
        <p:nvPr/>
      </p:nvGrpSpPr>
      <p:grpSpPr>
        <a:xfrm>
          <a:off x="0" y="0"/>
          <a:ext cx="0" cy="0"/>
          <a:chOff x="0" y="0"/>
          <a:chExt cx="0" cy="0"/>
        </a:xfrm>
      </p:grpSpPr>
      <p:pic>
        <p:nvPicPr>
          <p:cNvPr descr="image.png" id="173" name="Google Shape;173;p17"/>
          <p:cNvPicPr preferRelativeResize="0"/>
          <p:nvPr/>
        </p:nvPicPr>
        <p:blipFill rotWithShape="1">
          <a:blip ns2:embed="rId3">
            <a:alphaModFix/>
          </a:blip>
          <a:srcRect b="0" l="0" r="0" t="0"/>
          <a:stretch/>
        </p:blipFill>
        <p:spPr>
          <a:xfrm>
            <a:off x="0" y="0"/>
            <a:ext cx="76200" cy="6858000"/>
          </a:xfrm>
          <a:prstGeom prst="rect">
            <a:avLst/>
          </a:prstGeom>
          <a:noFill/>
          <a:ln>
            <a:noFill/>
          </a:ln>
        </p:spPr>
      </p:pic>
      <p:pic>
        <p:nvPicPr>
          <p:cNvPr descr="image.png" id="174" name="Google Shape;174;p17"/>
          <p:cNvPicPr preferRelativeResize="0"/>
          <p:nvPr/>
        </p:nvPicPr>
        <p:blipFill rotWithShape="1">
          <a:blip ns2:embed="rId4">
            <a:alphaModFix/>
          </a:blip>
          <a:srcRect b="0" l="0" r="0" t="0"/>
          <a:stretch/>
        </p:blipFill>
        <p:spPr>
          <a:xfrm>
            <a:off x="762000" y="1743075"/>
            <a:ext cx="5048250" cy="4543425"/>
          </a:xfrm>
          <a:prstGeom prst="rect">
            <a:avLst/>
          </a:prstGeom>
          <a:noFill/>
          <a:ln>
            <a:noFill/>
          </a:ln>
        </p:spPr>
      </p:pic>
      <p:pic>
        <p:nvPicPr>
          <p:cNvPr descr="image.png" id="175" name="Google Shape;175;p17"/>
          <p:cNvPicPr preferRelativeResize="0"/>
          <p:nvPr/>
        </p:nvPicPr>
        <p:blipFill rotWithShape="1">
          <a:blip ns2:embed="rId5">
            <a:alphaModFix/>
          </a:blip>
          <a:srcRect b="0" l="0" r="0" t="0"/>
          <a:stretch/>
        </p:blipFill>
        <p:spPr>
          <a:xfrm>
            <a:off x="6381750" y="1743075"/>
            <a:ext cx="5048250" cy="4543425"/>
          </a:xfrm>
          <a:prstGeom prst="rect">
            <a:avLst/>
          </a:prstGeom>
          <a:noFill/>
          <a:ln>
            <a:noFill/>
          </a:ln>
        </p:spPr>
      </p:pic>
      <p:sp>
        <p:nvSpPr>
          <p:cNvPr id="176" name="Google Shape;176;p17"/>
          <p:cNvSpPr txBox="1"/>
          <p:nvPr/>
        </p:nvSpPr>
        <p:spPr>
          <a:xfrm>
            <a:off x="11458575" y="6410325"/>
            <a:ext cx="1619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a:ea typeface="Inter"/>
                <a:cs typeface="Inter"/>
                <a:sym typeface="Inter"/>
              </a:rPr>
              <a:t>05</a:t>
            </a:r>
            <a:endParaRPr/>
          </a:p>
        </p:txBody>
      </p:sp>
      <p:sp>
        <p:nvSpPr>
          <p:cNvPr id="177" name="Google Shape;177;p17"/>
          <p:cNvSpPr txBox="1"/>
          <p:nvPr/>
        </p:nvSpPr>
        <p:spPr>
          <a:xfrm>
            <a:off x="762000" y="571500"/>
            <a:ext cx="11201400" cy="504825"/>
          </a:xfrm>
          <a:prstGeom prst="rect">
            <a:avLst/>
          </a:prstGeom>
          <a:noFill/>
          <a:ln>
            <a:noFill/>
          </a:ln>
        </p:spPr>
        <p:txBody>
          <a:bodyPr anchorCtr="0" anchor="t" bIns="0" lIns="0" spcFirstLastPara="1" rIns="0" wrap="square" tIns="0">
            <a:spAutoFit/>
          </a:bodyPr>
          <a:lstStyle/>
          <a:p>
            <a:r>
              <a:rPr b="1" i="0" lang="en-US" sz="3150" u="none" cap="none" strike="noStrike">
                <a:solidFill>
                  <a:srgbClr val="1E293B"/>
                </a:solidFill>
                <a:latin typeface="Space Grotesk"/>
                <a:ea typeface="Space Grotesk"/>
                <a:cs typeface="Space Grotesk"/>
                <a:sym typeface="Space Grotesk"/>
              </a:rPr>
              <a:t>Comprehensive Intelligence Layer</a:t>
            </a:r>
            <a:endParaRPr/>
          </a:p>
        </p:txBody>
      </p:sp>
      <p:sp>
        <p:nvSpPr>
          <p:cNvPr id="178" name="Google Shape;178;p17"/>
          <p:cNvSpPr txBox="1"/>
          <p:nvPr/>
        </p:nvSpPr>
        <p:spPr>
          <a:xfrm>
            <a:off x="762000" y="1152525"/>
            <a:ext cx="10668000" cy="304800"/>
          </a:xfrm>
          <a:prstGeom prst="rect">
            <a:avLst/>
          </a:prstGeom>
          <a:noFill/>
          <a:ln>
            <a:noFill/>
          </a:ln>
        </p:spPr>
        <p:txBody>
          <a:bodyPr anchorCtr="0" anchor="t" bIns="0" lIns="0" spcFirstLastPara="1" rIns="0" wrap="square" tIns="0">
            <a:spAutoFit/>
          </a:bodyPr>
          <a:lstStyle/>
          <a:p>
            <a:r>
              <a:rPr b="0" i="0" lang="en-US" sz="1500" u="none" cap="none" strike="noStrike">
                <a:solidFill>
                  <a:srgbClr val="6366F1"/>
                </a:solidFill>
                <a:latin typeface="Inter SemiBold"/>
                <a:ea typeface="Inter SemiBold"/>
                <a:cs typeface="Inter SemiBold"/>
                <a:sym typeface="Inter SemiBold"/>
              </a:rPr>
              <a:t>KNOWLEDGE, OBSERVABILITY, AND NLU ANALYTICS IN ONE LOOP</a:t>
            </a:r>
            <a:endParaRPr/>
          </a:p>
        </p:txBody>
      </p:sp>
      <p:pic>
        <p:nvPicPr>
          <p:cNvPr descr="image.png" id="179" name="Google Shape;179;p17"/>
          <p:cNvPicPr preferRelativeResize="0"/>
          <p:nvPr/>
        </p:nvPicPr>
        <p:blipFill rotWithShape="1">
          <a:blip ns2:embed="rId6">
            <a:alphaModFix/>
          </a:blip>
          <a:srcRect b="0" l="0" r="0" t="0"/>
          <a:stretch/>
        </p:blipFill>
        <p:spPr>
          <a:xfrm>
            <a:off x="1057275" y="2038350"/>
            <a:ext cx="381000" cy="381000"/>
          </a:xfrm>
          <a:prstGeom prst="rect">
            <a:avLst/>
          </a:prstGeom>
          <a:noFill/>
          <a:ln>
            <a:noFill/>
          </a:ln>
        </p:spPr>
      </p:pic>
      <p:sp>
        <p:nvSpPr>
          <p:cNvPr id="180" name="Google Shape;180;p17"/>
          <p:cNvSpPr txBox="1"/>
          <p:nvPr/>
        </p:nvSpPr>
        <p:spPr>
          <a:xfrm>
            <a:off x="1581150" y="2057400"/>
            <a:ext cx="1290161" cy="342900"/>
          </a:xfrm>
          <a:prstGeom prst="rect">
            <a:avLst/>
          </a:prstGeom>
          <a:noFill/>
          <a:ln>
            <a:noFill/>
          </a:ln>
        </p:spPr>
        <p:txBody>
          <a:bodyPr anchorCtr="0" anchor="t" bIns="0" lIns="0" spcFirstLastPara="1" rIns="0" wrap="square" tIns="0">
            <a:spAutoFit/>
          </a:bodyPr>
          <a:lstStyle/>
          <a:p>
            <a:r>
              <a:rPr b="1" i="0" lang="en-US" sz="2100" u="none" cap="none" strike="noStrike">
                <a:solidFill>
                  <a:srgbClr val="1E293B"/>
                </a:solidFill>
                <a:latin typeface="Space Grotesk"/>
                <a:ea typeface="Space Grotesk"/>
                <a:cs typeface="Space Grotesk"/>
                <a:sym typeface="Space Grotesk"/>
              </a:rPr>
              <a:t>Enterprise Knowledge + Channels</a:t>
            </a:r>
            <a:endParaRPr/>
          </a:p>
        </p:txBody>
      </p:sp>
      <p:sp>
        <p:nvSpPr>
          <p:cNvPr id="181" name="Google Shape;181;p17"/>
          <p:cNvSpPr txBox="1"/>
          <p:nvPr/>
        </p:nvSpPr>
        <p:spPr>
          <a:xfrm>
            <a:off x="1057275" y="2752725"/>
            <a:ext cx="4457700" cy="54030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80+ connectors, intelligent ingestion, permission-aware retrieval, and citation-linked responses.</a:t>
            </a:r>
            <a:endParaRPr/>
          </a:p>
        </p:txBody>
      </p:sp>
      <p:sp>
        <p:nvSpPr>
          <p:cNvPr id="182" name="Google Shape;182;p17"/>
          <p:cNvSpPr txBox="1"/>
          <p:nvPr/>
        </p:nvSpPr>
        <p:spPr>
          <a:xfrm>
            <a:off x="1057275" y="3444180"/>
            <a:ext cx="4457700" cy="54858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Omnichannel adapters with session continuity and rich channel-native response formats.</a:t>
            </a:r>
            <a:endParaRPr/>
          </a:p>
        </p:txBody>
      </p:sp>
      <p:sp>
        <p:nvSpPr>
          <p:cNvPr id="183" name="Google Shape;183;p17"/>
          <p:cNvSpPr txBox="1"/>
          <p:nvPr/>
        </p:nvSpPr>
        <p:spPr>
          <a:xfrm>
            <a:off x="1057275" y="4135635"/>
            <a:ext cx="4457700" cy="54858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Search AI and agent orchestration work together for enterprise-grade answer quality.</a:t>
            </a:r>
            <a:endParaRPr/>
          </a:p>
        </p:txBody>
      </p:sp>
      <p:pic>
        <p:nvPicPr>
          <p:cNvPr descr="image.png" id="184" name="Google Shape;184;p17"/>
          <p:cNvPicPr preferRelativeResize="0"/>
          <p:nvPr/>
        </p:nvPicPr>
        <p:blipFill rotWithShape="1">
          <a:blip ns2:embed="rId7">
            <a:alphaModFix/>
          </a:blip>
          <a:srcRect b="0" l="0" r="0" t="0"/>
          <a:stretch/>
        </p:blipFill>
        <p:spPr>
          <a:xfrm>
            <a:off x="6677025" y="2038350"/>
            <a:ext cx="381000" cy="381000"/>
          </a:xfrm>
          <a:prstGeom prst="rect">
            <a:avLst/>
          </a:prstGeom>
          <a:noFill/>
          <a:ln>
            <a:noFill/>
          </a:ln>
        </p:spPr>
      </p:pic>
      <p:sp>
        <p:nvSpPr>
          <p:cNvPr id="185" name="Google Shape;185;p17"/>
          <p:cNvSpPr txBox="1"/>
          <p:nvPr/>
        </p:nvSpPr>
        <p:spPr>
          <a:xfrm>
            <a:off x="7200900" y="2057400"/>
            <a:ext cx="2670333" cy="342900"/>
          </a:xfrm>
          <a:prstGeom prst="rect">
            <a:avLst/>
          </a:prstGeom>
          <a:noFill/>
          <a:ln>
            <a:noFill/>
          </a:ln>
        </p:spPr>
        <p:txBody>
          <a:bodyPr anchorCtr="0" anchor="t" bIns="0" lIns="0" spcFirstLastPara="1" rIns="0" wrap="square" tIns="0">
            <a:spAutoFit/>
          </a:bodyPr>
          <a:lstStyle/>
          <a:p>
            <a:r>
              <a:rPr b="1" i="0" lang="en-US" sz="2100" u="none" cap="none" strike="noStrike">
                <a:solidFill>
                  <a:srgbClr val="1E293B"/>
                </a:solidFill>
                <a:latin typeface="Space Grotesk"/>
                <a:ea typeface="Space Grotesk"/>
                <a:cs typeface="Space Grotesk"/>
                <a:sym typeface="Space Grotesk"/>
              </a:rPr>
              <a:t>Observability + NLU-Driven Analytics</a:t>
            </a:r>
            <a:endParaRPr/>
          </a:p>
        </p:txBody>
      </p:sp>
      <p:sp>
        <p:nvSpPr>
          <p:cNvPr id="186" name="Google Shape;186;p17"/>
          <p:cNvSpPr txBox="1"/>
          <p:nvPr/>
        </p:nvSpPr>
        <p:spPr>
          <a:xfrm>
            <a:off x="6677025" y="2752725"/>
            <a:ext cx="4457700" cy="54858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Real-time operational dashboards for latency, errors, escalations, token spend, and provider health.</a:t>
            </a:r>
            <a:endParaRPr/>
          </a:p>
        </p:txBody>
      </p:sp>
      <p:sp>
        <p:nvSpPr>
          <p:cNvPr id="187" name="Google Shape;187;p17"/>
          <p:cNvSpPr txBox="1"/>
          <p:nvPr/>
        </p:nvSpPr>
        <p:spPr>
          <a:xfrm>
            <a:off x="6677025" y="3444180"/>
            <a:ext cx="4457700" cy="54858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NLU and conversation analytics with 100% LLM-as-judge evaluation across quality, safety, and compliance.</a:t>
            </a:r>
            <a:endParaRPr/>
          </a:p>
        </p:txBody>
      </p:sp>
      <p:sp>
        <p:nvSpPr>
          <p:cNvPr id="188" name="Google Shape;188;p17"/>
          <p:cNvSpPr txBox="1"/>
          <p:nvPr/>
        </p:nvSpPr>
        <p:spPr>
          <a:xfrm>
            <a:off x="6677025" y="4135635"/>
            <a:ext cx="4457700" cy="548580"/>
          </a:xfrm>
          <a:prstGeom prst="rect">
            <a:avLst/>
          </a:prstGeom>
          <a:noFill/>
          <a:ln>
            <a:noFill/>
          </a:ln>
        </p:spPr>
        <p:txBody>
          <a:bodyPr anchorCtr="0" anchor="t" bIns="0" lIns="0" spcFirstLastPara="1" rIns="0" wrap="square" tIns="0">
            <a:spAutoFit/>
          </a:bodyPr>
          <a:lstStyle/>
          <a:p>
            <a:r>
              <a:rPr b="1" i="0" lang="en-US" sz="1350" u="none" cap="none" strike="noStrike">
                <a:solidFill>
                  <a:srgbClr val="475569"/>
                </a:solidFill>
                <a:latin typeface="Inter"/>
                <a:ea typeface="Inter"/>
                <a:cs typeface="Inter"/>
                <a:sym typeface="Inter"/>
              </a:rPr>
              <a:t>Trace-to-dashboard workflow makes issues easier to diagnose, prioritize, and fix with business impact visibility.</a:t>
            </a:r>
            <a:endParaRPr/>
          </a:p>
        </p:txBody>
      </p:sp>
    </p:spTree>
  </p:cSld>
  <p:clrMapOvr>
    <a:masterClrMapping/>
  </p:clrMapOvr>
</p:sld>
</file>

<file path=ppt/slides/slide6.xml><?xml version="1.0" encoding="utf-8"?>
<p:sld xmlns:a="http://schemas.openxmlformats.org/drawingml/2006/main" xmlns:ns2="http://schemas.openxmlformats.org/officeDocument/2006/relationships" xmlns:p="http://schemas.openxmlformats.org/presentationml/2006/main">
  <p:cSld>
    <p:spTree>
      <p:nvGrpSpPr>
        <p:cNvPr id="192" name="Shape 192"/>
        <p:cNvGrpSpPr/>
        <p:nvPr/>
      </p:nvGrpSpPr>
      <p:grpSpPr>
        <a:xfrm>
          <a:off x="0" y="0"/>
          <a:ext cx="0" cy="0"/>
          <a:chOff x="0" y="0"/>
          <a:chExt cx="0" cy="0"/>
        </a:xfrm>
      </p:grpSpPr>
      <p:pic>
        <p:nvPicPr>
          <p:cNvPr descr="image.png" id="193" name="Google Shape;193;p18"/>
          <p:cNvPicPr preferRelativeResize="0"/>
          <p:nvPr/>
        </p:nvPicPr>
        <p:blipFill rotWithShape="1">
          <a:blip ns2:embed="rId3">
            <a:alphaModFix/>
          </a:blip>
          <a:srcRect b="0" l="0" r="0" t="0"/>
          <a:stretch/>
        </p:blipFill>
        <p:spPr>
          <a:xfrm>
            <a:off x="0" y="0"/>
            <a:ext cx="76200" cy="6858000"/>
          </a:xfrm>
          <a:prstGeom prst="rect">
            <a:avLst/>
          </a:prstGeom>
          <a:noFill/>
          <a:ln>
            <a:noFill/>
          </a:ln>
        </p:spPr>
      </p:pic>
      <p:pic>
        <p:nvPicPr>
          <p:cNvPr descr="image.png" id="194" name="Google Shape;194;p18"/>
          <p:cNvPicPr preferRelativeResize="0"/>
          <p:nvPr/>
        </p:nvPicPr>
        <p:blipFill rotWithShape="1">
          <a:blip ns2:embed="rId4">
            <a:alphaModFix/>
          </a:blip>
          <a:srcRect b="0" l="0" r="0" t="0"/>
          <a:stretch/>
        </p:blipFill>
        <p:spPr>
          <a:xfrm>
            <a:off x="762000" y="5469284"/>
            <a:ext cx="10668000" cy="817215"/>
          </a:xfrm>
          <a:prstGeom prst="rect">
            <a:avLst/>
          </a:prstGeom>
          <a:noFill/>
          <a:ln>
            <a:noFill/>
          </a:ln>
        </p:spPr>
      </p:pic>
      <p:pic>
        <p:nvPicPr>
          <p:cNvPr descr="image.png" id="195" name="Google Shape;195;p18"/>
          <p:cNvPicPr preferRelativeResize="0"/>
          <p:nvPr/>
        </p:nvPicPr>
        <p:blipFill rotWithShape="1">
          <a:blip ns2:embed="rId5">
            <a:alphaModFix/>
          </a:blip>
          <a:srcRect b="0" l="0" r="0" t="0"/>
          <a:stretch/>
        </p:blipFill>
        <p:spPr>
          <a:xfrm>
            <a:off x="762000" y="2314575"/>
            <a:ext cx="476250" cy="476250"/>
          </a:xfrm>
          <a:prstGeom prst="rect">
            <a:avLst/>
          </a:prstGeom>
          <a:noFill/>
          <a:ln>
            <a:noFill/>
          </a:ln>
        </p:spPr>
      </p:pic>
      <p:pic>
        <p:nvPicPr>
          <p:cNvPr descr="image.png" id="196" name="Google Shape;196;p18"/>
          <p:cNvPicPr preferRelativeResize="0"/>
          <p:nvPr/>
        </p:nvPicPr>
        <p:blipFill rotWithShape="1">
          <a:blip ns2:embed="rId6">
            <a:alphaModFix/>
          </a:blip>
          <a:srcRect b="0" l="0" r="0" t="0"/>
          <a:stretch/>
        </p:blipFill>
        <p:spPr>
          <a:xfrm>
            <a:off x="4495800" y="2314575"/>
            <a:ext cx="476250" cy="476250"/>
          </a:xfrm>
          <a:prstGeom prst="rect">
            <a:avLst/>
          </a:prstGeom>
          <a:noFill/>
          <a:ln>
            <a:noFill/>
          </a:ln>
        </p:spPr>
      </p:pic>
      <p:pic>
        <p:nvPicPr>
          <p:cNvPr descr="image.png" id="197" name="Google Shape;197;p18"/>
          <p:cNvPicPr preferRelativeResize="0"/>
          <p:nvPr/>
        </p:nvPicPr>
        <p:blipFill rotWithShape="1">
          <a:blip ns2:embed="rId7">
            <a:alphaModFix/>
          </a:blip>
          <a:srcRect b="0" l="0" r="0" t="0"/>
          <a:stretch/>
        </p:blipFill>
        <p:spPr>
          <a:xfrm>
            <a:off x="8229600" y="2314575"/>
            <a:ext cx="476250" cy="476250"/>
          </a:xfrm>
          <a:prstGeom prst="rect">
            <a:avLst/>
          </a:prstGeom>
          <a:noFill/>
          <a:ln>
            <a:noFill/>
          </a:ln>
        </p:spPr>
      </p:pic>
      <p:sp>
        <p:nvSpPr>
          <p:cNvPr id="198" name="Google Shape;198;p18"/>
          <p:cNvSpPr txBox="1"/>
          <p:nvPr/>
        </p:nvSpPr>
        <p:spPr>
          <a:xfrm>
            <a:off x="11449050" y="6410325"/>
            <a:ext cx="1714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Inter"/>
                <a:ea typeface="Inter"/>
                <a:cs typeface="Inter"/>
                <a:sym typeface="Inter"/>
              </a:rPr>
              <a:t>06</a:t>
            </a:r>
            <a:endParaRPr/>
          </a:p>
        </p:txBody>
      </p:sp>
      <p:sp>
        <p:nvSpPr>
          <p:cNvPr id="199" name="Google Shape;199;p18"/>
          <p:cNvSpPr/>
          <p:nvPr/>
        </p:nvSpPr>
        <p:spPr>
          <a:xfrm>
            <a:off x="762000" y="2786950"/>
            <a:ext cx="10668000" cy="381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18"/>
          <p:cNvSpPr txBox="1"/>
          <p:nvPr/>
        </p:nvSpPr>
        <p:spPr>
          <a:xfrm>
            <a:off x="762000" y="571500"/>
            <a:ext cx="11201400" cy="504825"/>
          </a:xfrm>
          <a:prstGeom prst="rect">
            <a:avLst/>
          </a:prstGeom>
          <a:noFill/>
          <a:ln>
            <a:noFill/>
          </a:ln>
        </p:spPr>
        <p:txBody>
          <a:bodyPr anchorCtr="0" anchor="t" bIns="0" lIns="0" spcFirstLastPara="1" rIns="0" wrap="square" tIns="0">
            <a:spAutoFit/>
          </a:bodyPr>
          <a:lstStyle/>
          <a:p>
            <a:r>
              <a:rPr b="1" i="0" lang="en-US" sz="3150" u="none" cap="none" strike="noStrike">
                <a:solidFill>
                  <a:srgbClr val="1E293B"/>
                </a:solidFill>
                <a:latin typeface="Space Grotesk"/>
                <a:ea typeface="Space Grotesk"/>
                <a:cs typeface="Space Grotesk"/>
                <a:sym typeface="Space Grotesk"/>
              </a:rPr>
              <a:t>A Compelling Upgrade Path for Existing Customers</a:t>
            </a:r>
            <a:endParaRPr/>
          </a:p>
        </p:txBody>
      </p:sp>
      <p:sp>
        <p:nvSpPr>
          <p:cNvPr id="201" name="Google Shape;201;p18"/>
          <p:cNvSpPr txBox="1"/>
          <p:nvPr/>
        </p:nvSpPr>
        <p:spPr>
          <a:xfrm>
            <a:off x="762000" y="1152525"/>
            <a:ext cx="10668000" cy="304800"/>
          </a:xfrm>
          <a:prstGeom prst="rect">
            <a:avLst/>
          </a:prstGeom>
          <a:noFill/>
          <a:ln>
            <a:noFill/>
          </a:ln>
        </p:spPr>
        <p:txBody>
          <a:bodyPr anchorCtr="0" anchor="t" bIns="0" lIns="0" spcFirstLastPara="1" rIns="0" wrap="square" tIns="0">
            <a:spAutoFit/>
          </a:bodyPr>
          <a:lstStyle/>
          <a:p>
            <a:r>
              <a:rPr b="0" i="0" lang="en-US" sz="1500" u="none" cap="none" strike="noStrike">
                <a:solidFill>
                  <a:srgbClr val="6366F1"/>
                </a:solidFill>
                <a:latin typeface="Inter SemiBold"/>
                <a:ea typeface="Inter SemiBold"/>
                <a:cs typeface="Inter SemiBold"/>
                <a:sym typeface="Inter SemiBold"/>
              </a:rPr>
              <a:t>ADOPT IN PHASES, PROVE VALUE, THEN SCALE BY REUSE</a:t>
            </a:r>
            <a:endParaRPr/>
          </a:p>
        </p:txBody>
      </p:sp>
      <p:sp>
        <p:nvSpPr>
          <p:cNvPr id="202" name="Google Shape;202;p18"/>
          <p:cNvSpPr txBox="1"/>
          <p:nvPr/>
        </p:nvSpPr>
        <p:spPr>
          <a:xfrm>
            <a:off x="952500" y="5669309"/>
            <a:ext cx="10287000" cy="323100"/>
          </a:xfrm>
          <a:prstGeom prst="rect">
            <a:avLst/>
          </a:prstGeom>
          <a:noFill/>
          <a:ln>
            <a:noFill/>
          </a:ln>
        </p:spPr>
        <p:txBody>
          <a:bodyPr anchorCtr="0" anchor="t" bIns="0" lIns="0" spcFirstLastPara="1" rIns="0" wrap="square" tIns="0">
            <a:spAutoFit/>
          </a:bodyPr>
          <a:lstStyle/>
          <a:p>
            <a:r>
              <a:rPr b="1" i="0" lang="en-US" sz="2100" u="none" cap="none" strike="noStrike">
                <a:solidFill>
                  <a:srgbClr val="0F172A"/>
                </a:solidFill>
                <a:latin typeface="Inter"/>
                <a:ea typeface="Inter"/>
                <a:cs typeface="Inter"/>
                <a:sym typeface="Inter"/>
              </a:rPr>
              <a:t>No rip-and-replace: modernize one journey, validate outcomes, expand with proven patterns.</a:t>
            </a:r>
            <a:endParaRPr/>
          </a:p>
        </p:txBody>
      </p:sp>
      <p:sp>
        <p:nvSpPr>
          <p:cNvPr id="203" name="Google Shape;203;p18"/>
          <p:cNvSpPr txBox="1"/>
          <p:nvPr/>
        </p:nvSpPr>
        <p:spPr>
          <a:xfrm>
            <a:off x="762000" y="3076575"/>
            <a:ext cx="3360300" cy="277200"/>
          </a:xfrm>
          <a:prstGeom prst="rect">
            <a:avLst/>
          </a:prstGeom>
          <a:noFill/>
          <a:ln>
            <a:noFill/>
          </a:ln>
        </p:spPr>
        <p:txBody>
          <a:bodyPr anchorCtr="0" anchor="t" bIns="0" lIns="0" spcFirstLastPara="1" rIns="0" wrap="square" tIns="0">
            <a:spAutoFit/>
          </a:bodyPr>
          <a:lstStyle/>
          <a:p>
            <a:r>
              <a:rPr b="1" i="0" lang="en-US" sz="1800" u="none" cap="none" strike="noStrike">
                <a:solidFill>
                  <a:srgbClr val="0F172A"/>
                </a:solidFill>
                <a:latin typeface="Space Grotesk"/>
                <a:ea typeface="Space Grotesk"/>
                <a:cs typeface="Space Grotesk"/>
                <a:sym typeface="Space Grotesk"/>
              </a:rPr>
              <a:t>Phase 1</a:t>
            </a:r>
            <a:endParaRPr/>
          </a:p>
        </p:txBody>
      </p:sp>
      <p:sp>
        <p:nvSpPr>
          <p:cNvPr id="204" name="Google Shape;204;p18"/>
          <p:cNvSpPr txBox="1"/>
          <p:nvPr/>
        </p:nvSpPr>
        <p:spPr>
          <a:xfrm>
            <a:off x="4495800" y="3076575"/>
            <a:ext cx="3360420" cy="295275"/>
          </a:xfrm>
          <a:prstGeom prst="rect">
            <a:avLst/>
          </a:prstGeom>
          <a:noFill/>
          <a:ln>
            <a:noFill/>
          </a:ln>
        </p:spPr>
        <p:txBody>
          <a:bodyPr anchorCtr="0" anchor="t" bIns="0" lIns="0" spcFirstLastPara="1" rIns="0" wrap="square" tIns="0">
            <a:spAutoFit/>
          </a:bodyPr>
          <a:lstStyle/>
          <a:p>
            <a:r>
              <a:rPr b="1" i="0" lang="en-US" sz="1800" u="none" cap="none" strike="noStrike">
                <a:solidFill>
                  <a:srgbClr val="0F172A"/>
                </a:solidFill>
                <a:latin typeface="Space Grotesk"/>
                <a:ea typeface="Space Grotesk"/>
                <a:cs typeface="Space Grotesk"/>
                <a:sym typeface="Space Grotesk"/>
              </a:rPr>
              <a:t>First 30 Days</a:t>
            </a:r>
            <a:endParaRPr/>
          </a:p>
        </p:txBody>
      </p:sp>
      <p:sp>
        <p:nvSpPr>
          <p:cNvPr id="205" name="Google Shape;205;p18"/>
          <p:cNvSpPr txBox="1"/>
          <p:nvPr/>
        </p:nvSpPr>
        <p:spPr>
          <a:xfrm>
            <a:off x="8229600" y="3076575"/>
            <a:ext cx="3360420" cy="295275"/>
          </a:xfrm>
          <a:prstGeom prst="rect">
            <a:avLst/>
          </a:prstGeom>
          <a:noFill/>
          <a:ln>
            <a:noFill/>
          </a:ln>
        </p:spPr>
        <p:txBody>
          <a:bodyPr anchorCtr="0" anchor="t" bIns="0" lIns="0" spcFirstLastPara="1" rIns="0" wrap="square" tIns="0">
            <a:spAutoFit/>
          </a:bodyPr>
          <a:lstStyle/>
          <a:p>
            <a:r>
              <a:rPr b="1" i="0" lang="en-US" sz="1800" u="none" cap="none" strike="noStrike">
                <a:solidFill>
                  <a:srgbClr val="0F172A"/>
                </a:solidFill>
                <a:latin typeface="Space Grotesk"/>
                <a:ea typeface="Space Grotesk"/>
                <a:cs typeface="Space Grotesk"/>
                <a:sym typeface="Space Grotesk"/>
              </a:rPr>
              <a:t>Day 31-120</a:t>
            </a:r>
            <a:endParaRPr/>
          </a:p>
        </p:txBody>
      </p:sp>
      <p:sp>
        <p:nvSpPr>
          <p:cNvPr id="206" name="Google Shape;206;p18"/>
          <p:cNvSpPr txBox="1"/>
          <p:nvPr/>
        </p:nvSpPr>
        <p:spPr>
          <a:xfrm>
            <a:off x="952500" y="351472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Migrate one high-volume journey to V2 hybrid architecture</a:t>
            </a:r>
            <a:endParaRPr/>
          </a:p>
        </p:txBody>
      </p:sp>
      <p:sp>
        <p:nvSpPr>
          <p:cNvPr id="207" name="Google Shape;207;p18"/>
          <p:cNvSpPr txBox="1"/>
          <p:nvPr/>
        </p:nvSpPr>
        <p:spPr>
          <a:xfrm>
            <a:off x="952500" y="383470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Turn on immutable versions, rollback policy, and release approvals</a:t>
            </a:r>
            <a:endParaRPr/>
          </a:p>
        </p:txBody>
      </p:sp>
      <p:sp>
        <p:nvSpPr>
          <p:cNvPr id="208" name="Google Shape;208;p18"/>
          <p:cNvSpPr txBox="1"/>
          <p:nvPr/>
        </p:nvSpPr>
        <p:spPr>
          <a:xfrm>
            <a:off x="952500" y="415468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Connect existing IDE/AI workflow through MCP + Arch</a:t>
            </a:r>
            <a:endParaRPr/>
          </a:p>
        </p:txBody>
      </p:sp>
      <p:sp>
        <p:nvSpPr>
          <p:cNvPr id="209" name="Google Shape;209;p18"/>
          <p:cNvSpPr txBox="1"/>
          <p:nvPr/>
        </p:nvSpPr>
        <p:spPr>
          <a:xfrm>
            <a:off x="952500" y="4474666"/>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Baseline NLU dashboards and operational KPIs</a:t>
            </a:r>
            <a:endParaRPr/>
          </a:p>
        </p:txBody>
      </p:sp>
      <p:sp>
        <p:nvSpPr>
          <p:cNvPr id="210" name="Google Shape;210;p18"/>
          <p:cNvSpPr txBox="1"/>
          <p:nvPr/>
        </p:nvSpPr>
        <p:spPr>
          <a:xfrm>
            <a:off x="4686300" y="351472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Institutionalize trace-based troubleshooting and MTTR playbooks</a:t>
            </a:r>
            <a:endParaRPr/>
          </a:p>
        </p:txBody>
      </p:sp>
      <p:sp>
        <p:nvSpPr>
          <p:cNvPr id="211" name="Google Shape;211;p18"/>
          <p:cNvSpPr txBox="1"/>
          <p:nvPr/>
        </p:nvSpPr>
        <p:spPr>
          <a:xfrm>
            <a:off x="4686300" y="383470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Expand distributed session and omnichannel continuity patterns</a:t>
            </a:r>
            <a:endParaRPr/>
          </a:p>
        </p:txBody>
      </p:sp>
      <p:sp>
        <p:nvSpPr>
          <p:cNvPr id="212" name="Google Shape;212;p18"/>
          <p:cNvSpPr txBox="1"/>
          <p:nvPr/>
        </p:nvSpPr>
        <p:spPr>
          <a:xfrm>
            <a:off x="4686300" y="415468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Scale specialist-agent topology across adjacent business journeys</a:t>
            </a:r>
            <a:endParaRPr/>
          </a:p>
        </p:txBody>
      </p:sp>
      <p:sp>
        <p:nvSpPr>
          <p:cNvPr id="213" name="Google Shape;213;p18"/>
          <p:cNvSpPr txBox="1"/>
          <p:nvPr/>
        </p:nvSpPr>
        <p:spPr>
          <a:xfrm>
            <a:off x="4686300" y="4474666"/>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Optimize model routing and guardrails using production analytics</a:t>
            </a:r>
            <a:endParaRPr/>
          </a:p>
        </p:txBody>
      </p:sp>
      <p:sp>
        <p:nvSpPr>
          <p:cNvPr id="214" name="Google Shape;214;p18"/>
          <p:cNvSpPr txBox="1"/>
          <p:nvPr/>
        </p:nvSpPr>
        <p:spPr>
          <a:xfrm>
            <a:off x="8420100" y="351472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Automate quality/compliance gates before production deployment</a:t>
            </a:r>
            <a:endParaRPr/>
          </a:p>
        </p:txBody>
      </p:sp>
      <p:sp>
        <p:nvSpPr>
          <p:cNvPr id="215" name="Google Shape;215;p18"/>
          <p:cNvSpPr txBox="1"/>
          <p:nvPr/>
        </p:nvSpPr>
        <p:spPr>
          <a:xfrm>
            <a:off x="8420100" y="383470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Track containment, deflection, CX score, and cost-per-interaction</a:t>
            </a:r>
            <a:endParaRPr/>
          </a:p>
        </p:txBody>
      </p:sp>
      <p:sp>
        <p:nvSpPr>
          <p:cNvPr id="216" name="Google Shape;216;p18"/>
          <p:cNvSpPr txBox="1"/>
          <p:nvPr/>
        </p:nvSpPr>
        <p:spPr>
          <a:xfrm>
            <a:off x="8420100" y="4154685"/>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Grow connector coverage and governed knowledge access</a:t>
            </a:r>
            <a:endParaRPr/>
          </a:p>
        </p:txBody>
      </p:sp>
      <p:sp>
        <p:nvSpPr>
          <p:cNvPr id="217" name="Google Shape;217;p18"/>
          <p:cNvSpPr txBox="1"/>
          <p:nvPr/>
        </p:nvSpPr>
        <p:spPr>
          <a:xfrm>
            <a:off x="8420100" y="4474666"/>
            <a:ext cx="3009900" cy="243780"/>
          </a:xfrm>
          <a:prstGeom prst="rect">
            <a:avLst/>
          </a:prstGeom>
          <a:noFill/>
          <a:ln>
            <a:noFill/>
          </a:ln>
        </p:spPr>
        <p:txBody>
          <a:bodyPr anchorCtr="0" anchor="t" bIns="0" lIns="0" spcFirstLastPara="1" rIns="0" wrap="square" tIns="0">
            <a:spAutoFit/>
          </a:bodyPr>
          <a:lstStyle/>
          <a:p>
            <a:r>
              <a:rPr b="0" i="0" lang="en-US" sz="1200" u="none" cap="none" strike="noStrike">
                <a:solidFill>
                  <a:srgbClr val="475569"/>
                </a:solidFill>
                <a:latin typeface="Inter"/>
                <a:ea typeface="Inter"/>
                <a:cs typeface="Inter"/>
                <a:sym typeface="Inter"/>
              </a:rPr>
              <a:t>Run continuous improvement cycles: observe -&gt; diagnose -&gt; ship -&gt; measure</a:t>
            </a:r>
            <a:endParaRPr/>
          </a:p>
        </p:txBody>
      </p:sp>
      <p:sp>
        <p:nvSpPr>
          <p:cNvPr id="218" name="Google Shape;218;p18"/>
          <p:cNvSpPr txBox="1"/>
          <p:nvPr/>
        </p:nvSpPr>
        <p:spPr>
          <a:xfrm>
            <a:off x="762000" y="351472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19" name="Google Shape;219;p18"/>
          <p:cNvSpPr txBox="1"/>
          <p:nvPr/>
        </p:nvSpPr>
        <p:spPr>
          <a:xfrm>
            <a:off x="762000" y="383470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0" name="Google Shape;220;p18"/>
          <p:cNvSpPr txBox="1"/>
          <p:nvPr/>
        </p:nvSpPr>
        <p:spPr>
          <a:xfrm>
            <a:off x="762000" y="415468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1" name="Google Shape;221;p18"/>
          <p:cNvSpPr txBox="1"/>
          <p:nvPr/>
        </p:nvSpPr>
        <p:spPr>
          <a:xfrm>
            <a:off x="762000" y="4474666"/>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2" name="Google Shape;222;p18"/>
          <p:cNvSpPr txBox="1"/>
          <p:nvPr/>
        </p:nvSpPr>
        <p:spPr>
          <a:xfrm>
            <a:off x="4495800" y="351472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3" name="Google Shape;223;p18"/>
          <p:cNvSpPr txBox="1"/>
          <p:nvPr/>
        </p:nvSpPr>
        <p:spPr>
          <a:xfrm>
            <a:off x="4495800" y="383470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4" name="Google Shape;224;p18"/>
          <p:cNvSpPr txBox="1"/>
          <p:nvPr/>
        </p:nvSpPr>
        <p:spPr>
          <a:xfrm>
            <a:off x="4495800" y="415468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5" name="Google Shape;225;p18"/>
          <p:cNvSpPr txBox="1"/>
          <p:nvPr/>
        </p:nvSpPr>
        <p:spPr>
          <a:xfrm>
            <a:off x="4495800" y="4474666"/>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6" name="Google Shape;226;p18"/>
          <p:cNvSpPr txBox="1"/>
          <p:nvPr/>
        </p:nvSpPr>
        <p:spPr>
          <a:xfrm>
            <a:off x="8229600" y="351472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7" name="Google Shape;227;p18"/>
          <p:cNvSpPr txBox="1"/>
          <p:nvPr/>
        </p:nvSpPr>
        <p:spPr>
          <a:xfrm>
            <a:off x="8229600" y="383470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8" name="Google Shape;228;p18"/>
          <p:cNvSpPr txBox="1"/>
          <p:nvPr/>
        </p:nvSpPr>
        <p:spPr>
          <a:xfrm>
            <a:off x="8229600" y="4154685"/>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
        <p:nvSpPr>
          <p:cNvPr id="229" name="Google Shape;229;p18"/>
          <p:cNvSpPr txBox="1"/>
          <p:nvPr/>
        </p:nvSpPr>
        <p:spPr>
          <a:xfrm>
            <a:off x="8229600" y="4474666"/>
            <a:ext cx="152400" cy="24765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6366F1"/>
                </a:solidFill>
                <a:latin typeface="Inter"/>
                <a:ea typeface="Inter"/>
                <a:cs typeface="Inter"/>
                <a:sym typeface="Inter"/>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