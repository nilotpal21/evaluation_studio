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Inter SemiBold"/>
      <p:regular r:id="rId12"/>
      <p:bold r:id="rId13"/>
      <p:italic r:id="rId14"/>
      <p:boldItalic r:id="rId15"/>
    </p:embeddedFont>
    <p:embeddedFont>
      <p:font typeface="Inter"/>
      <p:regular r:id="rId16"/>
      <p:bold r:id="rId17"/>
      <p:italic r:id="rId18"/>
      <p:boldItalic r:id="rId19"/>
    </p:embeddedFont>
    <p:embeddedFont>
      <p:font typeface="Space Grotesk"/>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aceGrotesk-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SpaceGrotesk-bold.fntdata"/><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We've spent years building the most reliable agent platform in the industry. V2 takes everything we've learned and rethinks the foundation. Instead of choosing between rigid scripts or unpredictable LLMs, V2 gives you both — in a single declarative language that compiles, validates, and runs at enterprise scale. This is what we're launching at Reimagine.</a:t>
            </a:r>
            <a:endParaRPr/>
          </a:p>
        </p:txBody>
      </p:sp>
      <p:sp>
        <p:nvSpPr>
          <p:cNvPr id="81" name="Google Shape;8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ABL is the core innovation in V2. It's YAML — your teams already know it. But it compiles to a validated intermediate representation, just like a programming language. That means broken handoffs, invalid tool references, and unreachable steps are caught at build time — not in production. The three execution modes are key: scripted for high-volume IVR flows where you need sub-500ms and zero LLM spend, reasoning for complex problem-solving, and hybrid when you need both in one conversation. The constraints section is unique to ABL — these are formal rules that the LLM literally cannot violate. They're enforced by a separate deterministic engine.</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Studio is where your teams will spend their time. Arch is the standout — it's an AI architect that understands the entire project context. You describe what you want in plain English, it designs the multi-agent topology, generates the ABL code, and hands it to you for review. The editor gives you real-time compilation feedback — red squiggles like VS Code, but for agent definitions. The topology canvas shows you the full picture: which agent talks to which, where handoffs go, where escalations land. Testing is built in — we auto-generate test personas that stress-test your agents, and every conversation is scored by an LLM judge on goal completion, accuracy, tone, safety, and PII handling.</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V2 is built for regulated industries from the ground up. Tenant isolation isn't a feature we added — it's enforced at the database query level. Every query includes a tenant filter. Every cache key is tenant-prefixed. The guardrails system is unique: it's a 3-tier pipeline where local checks run in under a millisecond, model-based checks use purpose-built safety models, and LLM-based checks handle nuanced contextual evaluation. Critically, these are enforced by a separate engine — the LLM cannot talk its way around a constraint. On scale: the runtime is fully stateless. Sessions rehydrate on any pod. You can scale horizontally without sticky sessions or pod affinity.</a:t>
            </a:r>
            <a:endParaRPr/>
          </a:p>
        </p:txBody>
      </p:sp>
      <p:sp>
        <p:nvSpPr>
          <p:cNvPr id="147" name="Google Shape;14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Two capabilities that set V2 apart. Search-AI is a full ingestion-to-retrieval pipeline. Documents go through processing stages — extraction, chunking, entity extraction, knowledge graph construction, embedding. The retrieval is permission-aware, so a user only gets results they're authorized to see. On the analytics side, the game-changer is 100% conversation evaluation. Instead of relying on the 5-15% of customers who fill out surveys, every single conversation is scored by an LLM judge across multiple dimensions. You get a CX score for every interaction, friction detection that catches struggling users in real-time, and full cost attribution so you know exactly what each agent, intent, and conversation costs you.</a:t>
            </a:r>
            <a:endParaRPr/>
          </a:p>
        </p:txBody>
      </p:sp>
      <p:sp>
        <p:nvSpPr>
          <p:cNvPr id="171" name="Google Shape;17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We're launching with a comprehensive platform — the language, the IDE, multi-agent orchestration, omnichannel support, knowledge pipeline, and analytics are all shipping. In Q2, we're adding SDK support so your engineering teams can define agents programmatically in Python or TypeScript — great for CI/CD pipelines and Jupyter notebooks. Multi-intent means an agent can handle "check my balance and also dispute that charge" in one conversation instead of forcing the user to start over. In Q3 and beyond, the workflow engine brings durable execution for multi-step business processes, and the AI insights layer starts proactively suggesting improvements — "your escalation rate spiked 20% this week, here's the root cause and a one-click fix." We're building a platform that doesn't just run agents — it makes them better over time.</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2"/>
          <p:cNvSpPr txBox="1"/>
          <p:nvPr/>
        </p:nvSpPr>
        <p:spPr>
          <a:xfrm>
            <a:off x="456725" y="6403763"/>
            <a:ext cx="19758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Kore.ai</a:t>
            </a:r>
            <a:endParaRPr sz="110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 name="Google Shape;17;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9" name="Google Shape;29;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2" name="Google Shape;42;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3" name="Google Shape;43;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6" name="Google Shape;56;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7" name="Google Shape;5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0"/>
          <p:cNvSpPr/>
          <p:nvPr>
            <p:ph idx="2" type="pic"/>
          </p:nvPr>
        </p:nvSpPr>
        <p:spPr>
          <a:xfrm>
            <a:off x="1792288" y="612775"/>
            <a:ext cx="5486400" cy="4114800"/>
          </a:xfrm>
          <a:prstGeom prst="rect">
            <a:avLst/>
          </a:prstGeom>
          <a:noFill/>
          <a:ln>
            <a:noFill/>
          </a:ln>
        </p:spPr>
      </p:sp>
      <p:sp>
        <p:nvSpPr>
          <p:cNvPr id="63" name="Google Shape;63;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0" name="Google Shape;7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1.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3.png"/><Relationship Id="rId9"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9.png"/><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17.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31.png"/><Relationship Id="rId7"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26.png"/></Relationships>
</file>

<file path=ppt/slides/slide1.xml><?xml version="1.0" encoding="utf-8"?>
<p:sld xmlns:a="http://schemas.openxmlformats.org/drawingml/2006/main" xmlns:ns2="http://schemas.openxmlformats.org/officeDocument/2006/relationships" xmlns:p="http://schemas.openxmlformats.org/presentationml/2006/main">
  <p:cSld>
    <p:spTree>
      <p:nvGrpSpPr>
        <p:cNvPr id="82" name="Shape 82"/>
        <p:cNvGrpSpPr/>
        <p:nvPr/>
      </p:nvGrpSpPr>
      <p:grpSpPr>
        <a:xfrm>
          <a:off x="0" y="0"/>
          <a:ext cx="0" cy="0"/>
          <a:chOff x="0" y="0"/>
          <a:chExt cx="0" cy="0"/>
        </a:xfrm>
      </p:grpSpPr>
      <p:pic>
        <p:nvPicPr>
          <p:cNvPr descr="image.png" id="83" name="Google Shape;83;p13"/>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84" name="Google Shape;84;p13"/>
          <p:cNvPicPr preferRelativeResize="0"/>
          <p:nvPr/>
        </p:nvPicPr>
        <p:blipFill rotWithShape="1">
          <a:blip ns2:embed="rId4">
            <a:alphaModFix/>
          </a:blip>
          <a:srcRect b="0" l="0" r="0" t="0"/>
          <a:stretch/>
        </p:blipFill>
        <p:spPr>
          <a:xfrm>
            <a:off x="2286000" y="5760094"/>
            <a:ext cx="7620000" cy="676275"/>
          </a:xfrm>
          <a:prstGeom prst="rect">
            <a:avLst/>
          </a:prstGeom>
          <a:noFill/>
          <a:ln>
            <a:noFill/>
          </a:ln>
        </p:spPr>
      </p:pic>
      <p:sp>
        <p:nvSpPr>
          <p:cNvPr id="85" name="Google Shape;85;p13"/>
          <p:cNvSpPr txBox="1"/>
          <p:nvPr/>
        </p:nvSpPr>
        <p:spPr>
          <a:xfrm>
            <a:off x="11477625" y="6410325"/>
            <a:ext cx="14287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01</a:t>
            </a:r>
            <a:endParaRPr/>
          </a:p>
        </p:txBody>
      </p:sp>
      <p:sp>
        <p:nvSpPr>
          <p:cNvPr id="86" name="Google Shape;86;p13"/>
          <p:cNvSpPr txBox="1"/>
          <p:nvPr/>
        </p:nvSpPr>
        <p:spPr>
          <a:xfrm>
            <a:off x="4100512" y="571500"/>
            <a:ext cx="39909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1500">
                <a:solidFill>
                  <a:srgbClr val="6366F1"/>
                </a:solidFill>
                <a:latin typeface="Inter SemiBold"/>
                <a:ea typeface="Inter SemiBold"/>
                <a:cs typeface="Inter SemiBold"/>
                <a:sym typeface="Inter SemiBold"/>
              </a:rPr>
              <a:t>Kore.ai</a:t>
            </a:r>
            <a:r>
              <a:rPr b="0" i="0" lang="en-US" sz="1500" u="none" cap="none" strike="noStrike">
                <a:solidFill>
                  <a:srgbClr val="6366F1"/>
                </a:solidFill>
                <a:latin typeface="Inter SemiBold"/>
                <a:ea typeface="Inter SemiBold"/>
                <a:cs typeface="Inter SemiBold"/>
                <a:sym typeface="Inter SemiBold"/>
              </a:rPr>
              <a:t> AGENT PLATFORM V2</a:t>
            </a:r>
            <a:endParaRPr/>
          </a:p>
        </p:txBody>
      </p:sp>
      <p:sp>
        <p:nvSpPr>
          <p:cNvPr id="87" name="Google Shape;87;p13"/>
          <p:cNvSpPr txBox="1"/>
          <p:nvPr/>
        </p:nvSpPr>
        <p:spPr>
          <a:xfrm>
            <a:off x="2540555" y="1257300"/>
            <a:ext cx="7110888" cy="1340941"/>
          </a:xfrm>
          <a:prstGeom prst="rect">
            <a:avLst/>
          </a:prstGeom>
          <a:noFill/>
          <a:ln>
            <a:noFill/>
          </a:ln>
        </p:spPr>
        <p:txBody>
          <a:bodyPr anchorCtr="0" anchor="t" bIns="0" lIns="0" spcFirstLastPara="1" rIns="0" wrap="square" tIns="0">
            <a:spAutoFit/>
          </a:bodyPr>
          <a:lstStyle/>
          <a:p>
            <a:r>
              <a:rPr b="1" i="0" lang="en-US" sz="4800" u="none" cap="none" strike="noStrike">
                <a:solidFill>
                  <a:srgbClr val="0F172A"/>
                </a:solidFill>
                <a:latin typeface="Space Grotesk"/>
                <a:ea typeface="Space Grotesk"/>
                <a:cs typeface="Space Grotesk"/>
                <a:sym typeface="Space Grotesk"/>
              </a:rPr>
              <a:t>The Upgrade Story for Existing Customers</a:t>
            </a:r>
            <a:endParaRPr/>
          </a:p>
        </p:txBody>
      </p:sp>
      <p:sp>
        <p:nvSpPr>
          <p:cNvPr id="88" name="Google Shape;88;p13"/>
          <p:cNvSpPr txBox="1"/>
          <p:nvPr/>
        </p:nvSpPr>
        <p:spPr>
          <a:xfrm>
            <a:off x="1809750" y="3169741"/>
            <a:ext cx="8572500" cy="731341"/>
          </a:xfrm>
          <a:prstGeom prst="rect">
            <a:avLst/>
          </a:prstGeom>
          <a:noFill/>
          <a:ln>
            <a:noFill/>
          </a:ln>
        </p:spPr>
        <p:txBody>
          <a:bodyPr anchorCtr="0" anchor="t" bIns="0" lIns="0" spcFirstLastPara="1" rIns="0" wrap="square" tIns="0">
            <a:spAutoFit/>
          </a:bodyPr>
          <a:lstStyle/>
          <a:p>
            <a:r>
              <a:rPr b="0" i="0" lang="en-US" sz="1800" u="none" cap="none" strike="noStrike">
                <a:solidFill>
                  <a:srgbClr val="1E293B"/>
                </a:solidFill>
                <a:latin typeface="Inter"/>
                <a:ea typeface="Inter"/>
                <a:cs typeface="Inter"/>
                <a:sym typeface="Inter"/>
              </a:rPr>
              <a:t>Reduce operating cost, ship faster, and improve control with Agent Platform V2.</a:t>
            </a:r>
            <a:endParaRPr/>
          </a:p>
        </p:txBody>
      </p:sp>
      <p:sp>
        <p:nvSpPr>
          <p:cNvPr id="89" name="Google Shape;89;p13"/>
          <p:cNvSpPr txBox="1"/>
          <p:nvPr/>
        </p:nvSpPr>
        <p:spPr>
          <a:xfrm>
            <a:off x="1809750" y="4043957"/>
            <a:ext cx="8572500" cy="365670"/>
          </a:xfrm>
          <a:prstGeom prst="rect">
            <a:avLst/>
          </a:prstGeom>
          <a:noFill/>
          <a:ln>
            <a:noFill/>
          </a:ln>
        </p:spPr>
        <p:txBody>
          <a:bodyPr anchorCtr="0" anchor="t" bIns="0" lIns="0" spcFirstLastPara="1" rIns="0" wrap="square" tIns="0">
            <a:spAutoFit/>
          </a:bodyPr>
          <a:lstStyle/>
          <a:p>
            <a:r>
              <a:rPr b="0" i="0" lang="en-US" sz="1800" u="none" cap="none" strike="noStrike">
                <a:solidFill>
                  <a:srgbClr val="1E293B"/>
                </a:solidFill>
                <a:latin typeface="Inter"/>
                <a:ea typeface="Inter"/>
                <a:cs typeface="Inter"/>
                <a:sym typeface="Inter"/>
              </a:rPr>
              <a:t>Keep enterprise governance while adding LLM-native orchestration and flexibility.</a:t>
            </a:r>
            <a:endParaRPr/>
          </a:p>
        </p:txBody>
      </p:sp>
      <p:sp>
        <p:nvSpPr>
          <p:cNvPr id="90" name="Google Shape;90;p13"/>
          <p:cNvSpPr txBox="1"/>
          <p:nvPr/>
        </p:nvSpPr>
        <p:spPr>
          <a:xfrm>
            <a:off x="1809750" y="4552503"/>
            <a:ext cx="8572500" cy="731341"/>
          </a:xfrm>
          <a:prstGeom prst="rect">
            <a:avLst/>
          </a:prstGeom>
          <a:noFill/>
          <a:ln>
            <a:noFill/>
          </a:ln>
        </p:spPr>
        <p:txBody>
          <a:bodyPr anchorCtr="0" anchor="t" bIns="0" lIns="0" spcFirstLastPara="1" rIns="0" wrap="square" tIns="0">
            <a:spAutoFit/>
          </a:bodyPr>
          <a:lstStyle/>
          <a:p>
            <a:r>
              <a:rPr b="1" i="0" lang="en-US" sz="1800" u="none" cap="none" strike="noStrike">
                <a:solidFill>
                  <a:srgbClr val="6366F1"/>
                </a:solidFill>
                <a:latin typeface="Inter"/>
                <a:ea typeface="Inter"/>
                <a:cs typeface="Inter"/>
                <a:sym typeface="Inter"/>
              </a:rPr>
              <a:t>V2 gives existing programs a clearer path from pilot wins to scaled production value.</a:t>
            </a:r>
            <a:endParaRPr/>
          </a:p>
        </p:txBody>
      </p:sp>
      <p:sp>
        <p:nvSpPr>
          <p:cNvPr id="91" name="Google Shape;91;p13"/>
          <p:cNvSpPr txBox="1"/>
          <p:nvPr/>
        </p:nvSpPr>
        <p:spPr>
          <a:xfrm>
            <a:off x="2486025" y="6002982"/>
            <a:ext cx="990600" cy="190500"/>
          </a:xfrm>
          <a:prstGeom prst="rect">
            <a:avLst/>
          </a:prstGeom>
          <a:noFill/>
          <a:ln>
            <a:noFill/>
          </a:ln>
        </p:spPr>
        <p:txBody>
          <a:bodyPr anchorCtr="0" anchor="ctr" bIns="0" lIns="0" spcFirstLastPara="1" rIns="0" wrap="square" tIns="0">
            <a:spAutoFit/>
          </a:bodyPr>
          <a:lstStyle/>
          <a:p>
            <a:r>
              <a:rPr b="0" i="0" lang="en-US" sz="1200" u="none" cap="none" strike="noStrike">
                <a:solidFill>
                  <a:srgbClr val="0F172A"/>
                </a:solidFill>
                <a:latin typeface="Inter SemiBold"/>
                <a:ea typeface="Inter SemiBold"/>
                <a:cs typeface="Inter SemiBold"/>
                <a:sym typeface="Inter SemiBold"/>
              </a:rPr>
              <a:t>Flow-Centric Bots</a:t>
            </a:r>
            <a:endParaRPr/>
          </a:p>
        </p:txBody>
      </p:sp>
      <p:sp>
        <p:nvSpPr>
          <p:cNvPr id="92" name="Google Shape;92;p13"/>
          <p:cNvSpPr txBox="1"/>
          <p:nvPr/>
        </p:nvSpPr>
        <p:spPr>
          <a:xfrm>
            <a:off x="5295900" y="6002982"/>
            <a:ext cx="885825" cy="190500"/>
          </a:xfrm>
          <a:prstGeom prst="rect">
            <a:avLst/>
          </a:prstGeom>
          <a:noFill/>
          <a:ln>
            <a:noFill/>
          </a:ln>
        </p:spPr>
        <p:txBody>
          <a:bodyPr anchorCtr="0" anchor="ctr" bIns="0" lIns="0" spcFirstLastPara="1" rIns="0" wrap="square" tIns="0">
            <a:spAutoFit/>
          </a:bodyPr>
          <a:lstStyle/>
          <a:p>
            <a:r>
              <a:rPr b="0" i="0" lang="en-US" sz="1200" u="none" cap="none" strike="noStrike">
                <a:solidFill>
                  <a:srgbClr val="0F172A"/>
                </a:solidFill>
                <a:latin typeface="Inter SemiBold"/>
                <a:ea typeface="Inter SemiBold"/>
                <a:cs typeface="Inter SemiBold"/>
                <a:sym typeface="Inter SemiBold"/>
              </a:rPr>
              <a:t>Isolated LLM Agents</a:t>
            </a:r>
            <a:endParaRPr/>
          </a:p>
        </p:txBody>
      </p:sp>
      <p:sp>
        <p:nvSpPr>
          <p:cNvPr id="93" name="Google Shape;93;p13"/>
          <p:cNvSpPr txBox="1"/>
          <p:nvPr/>
        </p:nvSpPr>
        <p:spPr>
          <a:xfrm>
            <a:off x="8001000" y="6002982"/>
            <a:ext cx="1704900" cy="369300"/>
          </a:xfrm>
          <a:prstGeom prst="rect">
            <a:avLst/>
          </a:prstGeom>
          <a:noFill/>
          <a:ln>
            <a:noFill/>
          </a:ln>
        </p:spPr>
        <p:txBody>
          <a:bodyPr anchorCtr="0" anchor="ctr" bIns="0" lIns="0" spcFirstLastPara="1" rIns="0" wrap="square" tIns="0">
            <a:spAutoFit/>
          </a:bodyPr>
          <a:lstStyle/>
          <a:p>
            <a:r>
              <a:rPr b="0" i="0" lang="en-US" sz="1200" u="none" cap="none" strike="noStrike">
                <a:solidFill>
                  <a:srgbClr val="6366F1"/>
                </a:solidFill>
                <a:latin typeface="Inter SemiBold"/>
                <a:ea typeface="Inter SemiBold"/>
                <a:cs typeface="Inter SemiBold"/>
                <a:sym typeface="Inter SemiBold"/>
              </a:rPr>
              <a:t>Unified Agent Platform</a:t>
            </a:r>
            <a:endParaRPr b="0" i="0" sz="1200" u="none" cap="none" strike="noStrike">
              <a:solidFill>
                <a:srgbClr val="6366F1"/>
              </a:solidFill>
              <a:latin typeface="Inter SemiBold"/>
              <a:ea typeface="Inter SemiBold"/>
              <a:cs typeface="Inter SemiBold"/>
              <a:sym typeface="Inter SemiBold"/>
            </a:endParaRPr>
          </a:p>
          <a:p>
            <a:r>
              <a:rPr b="0" i="0" lang="en-US" sz="1200" u="none" cap="none" strike="noStrike">
                <a:solidFill>
                  <a:srgbClr val="6366F1"/>
                </a:solidFill>
                <a:latin typeface="Inter SemiBold"/>
                <a:ea typeface="Inter SemiBold"/>
                <a:cs typeface="Inter SemiBold"/>
                <a:sym typeface="Inter SemiBold"/>
              </a:rPr>
              <a:t>(AP V2)</a:t>
            </a:r>
            <a:endParaRPr b="0" i="0" sz="1200" u="none" cap="none" strike="noStrike">
              <a:solidFill>
                <a:srgbClr val="6366F1"/>
              </a:solidFill>
              <a:latin typeface="Inter SemiBold"/>
              <a:ea typeface="Inter SemiBold"/>
              <a:cs typeface="Inter SemiBold"/>
              <a:sym typeface="Inter SemiBold"/>
            </a:endParaRPr>
          </a:p>
        </p:txBody>
      </p:sp>
      <p:pic>
        <p:nvPicPr>
          <p:cNvPr descr="image.png" id="94" name="Google Shape;94;p13"/>
          <p:cNvPicPr preferRelativeResize="0"/>
          <p:nvPr/>
        </p:nvPicPr>
        <p:blipFill rotWithShape="1">
          <a:blip ns2:embed="rId5">
            <a:alphaModFix/>
          </a:blip>
          <a:srcRect b="0" l="0" r="0" t="0"/>
          <a:stretch/>
        </p:blipFill>
        <p:spPr>
          <a:xfrm>
            <a:off x="4286250" y="5979169"/>
            <a:ext cx="200025" cy="228600"/>
          </a:xfrm>
          <a:prstGeom prst="rect">
            <a:avLst/>
          </a:prstGeom>
          <a:noFill/>
          <a:ln>
            <a:noFill/>
          </a:ln>
        </p:spPr>
      </p:pic>
      <p:pic>
        <p:nvPicPr>
          <p:cNvPr descr="image.png" id="95" name="Google Shape;95;p13"/>
          <p:cNvPicPr preferRelativeResize="0"/>
          <p:nvPr/>
        </p:nvPicPr>
        <p:blipFill rotWithShape="1">
          <a:blip ns2:embed="rId5">
            <a:alphaModFix/>
          </a:blip>
          <a:srcRect b="0" l="0" r="0" t="0"/>
          <a:stretch/>
        </p:blipFill>
        <p:spPr>
          <a:xfrm>
            <a:off x="6991350" y="5979169"/>
            <a:ext cx="200025" cy="228600"/>
          </a:xfrm>
          <a:prstGeom prst="rect">
            <a:avLst/>
          </a:prstGeom>
          <a:noFill/>
          <a:ln>
            <a:noFill/>
          </a:ln>
        </p:spPr>
      </p:pic>
    </p:spTree>
  </p:cSld>
  <p:clrMapOvr>
    <a:masterClrMapping/>
  </p:clrMapOvr>
</p:sld>
</file>

<file path=ppt/slides/slide2.xml><?xml version="1.0" encoding="utf-8"?>
<p:sld xmlns:a="http://schemas.openxmlformats.org/drawingml/2006/main" xmlns:ns2="http://schemas.openxmlformats.org/officeDocument/2006/relationships" xmlns:p="http://schemas.openxmlformats.org/presentationml/2006/main">
  <p:cSld>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ns2:embed="rId3">
            <a:alphaModFix/>
          </a:blip>
          <a:srcRect b="0" l="0" r="0" t="0"/>
          <a:stretch/>
        </p:blipFill>
        <p:spPr>
          <a:xfrm>
            <a:off x="0" y="0"/>
            <a:ext cx="76200" cy="6858000"/>
          </a:xfrm>
          <a:prstGeom prst="rect">
            <a:avLst/>
          </a:prstGeom>
          <a:noFill/>
          <a:ln>
            <a:noFill/>
          </a:ln>
        </p:spPr>
      </p:pic>
      <p:sp>
        <p:nvSpPr>
          <p:cNvPr id="101" name="Google Shape;101;p14"/>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02</a:t>
            </a:r>
            <a:endParaRPr/>
          </a:p>
        </p:txBody>
      </p:sp>
      <p:sp>
        <p:nvSpPr>
          <p:cNvPr id="102" name="Google Shape;102;p14"/>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E293B"/>
                </a:solidFill>
                <a:latin typeface="Space Grotesk"/>
                <a:ea typeface="Space Grotesk"/>
                <a:cs typeface="Space Grotesk"/>
                <a:sym typeface="Space Grotesk"/>
              </a:rPr>
              <a:t>Agent Blueprint Language (ABL)</a:t>
            </a:r>
            <a:endParaRPr/>
          </a:p>
        </p:txBody>
      </p:sp>
      <p:sp>
        <p:nvSpPr>
          <p:cNvPr id="103" name="Google Shape;103;p14"/>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FASTER DEVELOPMENT CYCLES WITH ENTERPRISE SAFETY</a:t>
            </a:r>
            <a:endParaRPr/>
          </a:p>
        </p:txBody>
      </p:sp>
      <p:sp>
        <p:nvSpPr>
          <p:cNvPr id="104" name="Google Shape;104;p14"/>
          <p:cNvSpPr txBox="1"/>
          <p:nvPr/>
        </p:nvSpPr>
        <p:spPr>
          <a:xfrm>
            <a:off x="1047750" y="17430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Declarative YAML + compile-time validation catches issues before runtime.</a:t>
            </a:r>
            <a:endParaRPr/>
          </a:p>
        </p:txBody>
      </p:sp>
      <p:sp>
        <p:nvSpPr>
          <p:cNvPr id="105" name="Google Shape;105;p14"/>
          <p:cNvSpPr txBox="1"/>
          <p:nvPr/>
        </p:nvSpPr>
        <p:spPr>
          <a:xfrm>
            <a:off x="1047750" y="25297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Scripted, Reasoning, and Hybrid modes optimize each step for speed, quality, and cost.</a:t>
            </a:r>
            <a:endParaRPr/>
          </a:p>
        </p:txBody>
      </p:sp>
      <p:sp>
        <p:nvSpPr>
          <p:cNvPr id="106" name="Google Shape;106;p14"/>
          <p:cNvSpPr txBox="1"/>
          <p:nvPr/>
        </p:nvSpPr>
        <p:spPr>
          <a:xfrm>
            <a:off x="1047750" y="33164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Reusable coordination primitives standardize proven patterns across teams.</a:t>
            </a:r>
            <a:endParaRPr/>
          </a:p>
        </p:txBody>
      </p:sp>
      <p:sp>
        <p:nvSpPr>
          <p:cNvPr id="107" name="Google Shape;107;p14"/>
          <p:cNvSpPr txBox="1"/>
          <p:nvPr/>
        </p:nvSpPr>
        <p:spPr>
          <a:xfrm>
            <a:off x="1047750" y="4103200"/>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Typed state and hard constraints keep behavior predictable with frontier models.</a:t>
            </a:r>
            <a:endParaRPr/>
          </a:p>
        </p:txBody>
      </p:sp>
      <p:pic>
        <p:nvPicPr>
          <p:cNvPr descr="image.png" id="108" name="Google Shape;108;p14"/>
          <p:cNvPicPr preferRelativeResize="0"/>
          <p:nvPr/>
        </p:nvPicPr>
        <p:blipFill rotWithShape="1">
          <a:blip ns2:embed="rId4">
            <a:alphaModFix/>
          </a:blip>
          <a:srcRect b="0" l="0" r="0" t="0"/>
          <a:stretch/>
        </p:blipFill>
        <p:spPr>
          <a:xfrm>
            <a:off x="762000" y="1738312"/>
            <a:ext cx="219075" cy="180975"/>
          </a:xfrm>
          <a:prstGeom prst="rect">
            <a:avLst/>
          </a:prstGeom>
          <a:noFill/>
          <a:ln>
            <a:noFill/>
          </a:ln>
        </p:spPr>
      </p:pic>
      <p:pic>
        <p:nvPicPr>
          <p:cNvPr descr="image.png" id="109" name="Google Shape;109;p14"/>
          <p:cNvPicPr preferRelativeResize="0"/>
          <p:nvPr/>
        </p:nvPicPr>
        <p:blipFill rotWithShape="1">
          <a:blip ns2:embed="rId5">
            <a:alphaModFix/>
          </a:blip>
          <a:srcRect b="0" l="0" r="0" t="0"/>
          <a:stretch/>
        </p:blipFill>
        <p:spPr>
          <a:xfrm>
            <a:off x="762000" y="2525017"/>
            <a:ext cx="152400" cy="180975"/>
          </a:xfrm>
          <a:prstGeom prst="rect">
            <a:avLst/>
          </a:prstGeom>
          <a:noFill/>
          <a:ln>
            <a:noFill/>
          </a:ln>
        </p:spPr>
      </p:pic>
      <p:pic>
        <p:nvPicPr>
          <p:cNvPr descr="image.png" id="110" name="Google Shape;110;p14"/>
          <p:cNvPicPr preferRelativeResize="0"/>
          <p:nvPr/>
        </p:nvPicPr>
        <p:blipFill rotWithShape="1">
          <a:blip ns2:embed="rId6">
            <a:alphaModFix/>
          </a:blip>
          <a:srcRect b="0" l="0" r="0" t="0"/>
          <a:stretch/>
        </p:blipFill>
        <p:spPr>
          <a:xfrm>
            <a:off x="762000" y="3311723"/>
            <a:ext cx="190500" cy="180975"/>
          </a:xfrm>
          <a:prstGeom prst="rect">
            <a:avLst/>
          </a:prstGeom>
          <a:noFill/>
          <a:ln>
            <a:noFill/>
          </a:ln>
        </p:spPr>
      </p:pic>
      <p:pic>
        <p:nvPicPr>
          <p:cNvPr descr="image.png" id="111" name="Google Shape;111;p14"/>
          <p:cNvPicPr preferRelativeResize="0"/>
          <p:nvPr/>
        </p:nvPicPr>
        <p:blipFill rotWithShape="1">
          <a:blip ns2:embed="rId7">
            <a:alphaModFix/>
          </a:blip>
          <a:srcRect b="0" l="0" r="0" t="0"/>
          <a:stretch/>
        </p:blipFill>
        <p:spPr>
          <a:xfrm>
            <a:off x="762000" y="4098428"/>
            <a:ext cx="171450" cy="180975"/>
          </a:xfrm>
          <a:prstGeom prst="rect">
            <a:avLst/>
          </a:prstGeom>
          <a:noFill/>
          <a:ln>
            <a:noFill/>
          </a:ln>
        </p:spPr>
      </p:pic>
      <p:sp>
        <p:nvSpPr>
          <p:cNvPr id="112" name="Google Shape;112;p14"/>
          <p:cNvSpPr txBox="1"/>
          <p:nvPr/>
        </p:nvSpPr>
        <p:spPr>
          <a:xfrm>
            <a:off x="6967175" y="1457325"/>
            <a:ext cx="5022000" cy="4676400"/>
          </a:xfrm>
          <a:prstGeom prst="rect">
            <a:avLst/>
          </a:prstGeom>
          <a:solidFill>
            <a:srgbClr val="1F1F1F"/>
          </a:solidFill>
          <a:ln>
            <a:noFill/>
          </a:ln>
        </p:spPr>
        <p:txBody>
          <a:bodyPr anchorCtr="0" anchor="t" bIns="91425" lIns="91425" spcFirstLastPara="1" rIns="91425" wrap="square" tIns="91425">
            <a:noAutofit/>
          </a:bodyPr>
          <a:lstStyle/>
          <a:p>
            <a:r>
              <a:rPr lang="en-US" sz="900">
                <a:solidFill>
                  <a:srgbClr val="CE9178"/>
                </a:solidFill>
                <a:latin typeface="Courier New"/>
                <a:ea typeface="Courier New"/>
                <a:cs typeface="Courier New"/>
                <a:sym typeface="Courier New"/>
              </a:rPr>
              <a:t>EXISTING CUSTOMER IMPACT</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Build new agents in days, not weeks</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Reuse tested orchestration patterns</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Catch errors at compile time before deployment</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Tune model tiers per step for latency and cost</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Ship safer changes with readable YAML diffs</a:t>
            </a:r>
            <a:endParaRPr sz="900">
              <a:solidFill>
                <a:srgbClr val="CE9178"/>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ns2="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18" name="Google Shape;118;p15"/>
          <p:cNvPicPr preferRelativeResize="0"/>
          <p:nvPr/>
        </p:nvPicPr>
        <p:blipFill rotWithShape="1">
          <a:blip ns2:embed="rId4">
            <a:alphaModFix/>
          </a:blip>
          <a:srcRect b="0" l="0" r="0" t="0"/>
          <a:stretch/>
        </p:blipFill>
        <p:spPr>
          <a:xfrm>
            <a:off x="762000" y="1647825"/>
            <a:ext cx="10522425" cy="1021925"/>
          </a:xfrm>
          <a:prstGeom prst="rect">
            <a:avLst/>
          </a:prstGeom>
          <a:noFill/>
          <a:ln>
            <a:noFill/>
          </a:ln>
        </p:spPr>
      </p:pic>
      <p:pic>
        <p:nvPicPr>
          <p:cNvPr descr="image.png" id="119" name="Google Shape;119;p15"/>
          <p:cNvPicPr preferRelativeResize="0"/>
          <p:nvPr/>
        </p:nvPicPr>
        <p:blipFill rotWithShape="1">
          <a:blip ns2:embed="rId4">
            <a:alphaModFix/>
          </a:blip>
          <a:srcRect b="0" l="0" r="0" t="0"/>
          <a:stretch/>
        </p:blipFill>
        <p:spPr>
          <a:xfrm>
            <a:off x="762000" y="3037888"/>
            <a:ext cx="10522425" cy="1021925"/>
          </a:xfrm>
          <a:prstGeom prst="rect">
            <a:avLst/>
          </a:prstGeom>
          <a:noFill/>
          <a:ln>
            <a:noFill/>
          </a:ln>
        </p:spPr>
      </p:pic>
      <p:pic>
        <p:nvPicPr>
          <p:cNvPr descr="image.png" id="120" name="Google Shape;120;p15"/>
          <p:cNvPicPr preferRelativeResize="0"/>
          <p:nvPr/>
        </p:nvPicPr>
        <p:blipFill rotWithShape="1">
          <a:blip ns2:embed="rId5">
            <a:alphaModFix/>
          </a:blip>
          <a:srcRect b="0" l="0" r="0" t="0"/>
          <a:stretch/>
        </p:blipFill>
        <p:spPr>
          <a:xfrm>
            <a:off x="762000" y="4427977"/>
            <a:ext cx="10522425" cy="1021925"/>
          </a:xfrm>
          <a:prstGeom prst="rect">
            <a:avLst/>
          </a:prstGeom>
          <a:noFill/>
          <a:ln>
            <a:noFill/>
          </a:ln>
        </p:spPr>
      </p:pic>
      <p:sp>
        <p:nvSpPr>
          <p:cNvPr id="121" name="Google Shape;121;p15"/>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03</a:t>
            </a:r>
            <a:endParaRPr/>
          </a:p>
        </p:txBody>
      </p:sp>
      <p:sp>
        <p:nvSpPr>
          <p:cNvPr id="122" name="Google Shape;122;p15"/>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E293B"/>
                </a:solidFill>
                <a:latin typeface="Space Grotesk"/>
                <a:ea typeface="Space Grotesk"/>
                <a:cs typeface="Space Grotesk"/>
                <a:sym typeface="Space Grotesk"/>
              </a:rPr>
              <a:t>The Studio Experience</a:t>
            </a:r>
            <a:endParaRPr/>
          </a:p>
        </p:txBody>
      </p:sp>
      <p:sp>
        <p:nvSpPr>
          <p:cNvPr id="123" name="Google Shape;123;p15"/>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FROM IDEA TO PRODUCTION WITH LESS HANDOFF</a:t>
            </a:r>
            <a:endParaRPr/>
          </a:p>
        </p:txBody>
      </p:sp>
      <p:pic>
        <p:nvPicPr>
          <p:cNvPr descr="image.png" id="124" name="Google Shape;124;p15"/>
          <p:cNvPicPr preferRelativeResize="0"/>
          <p:nvPr/>
        </p:nvPicPr>
        <p:blipFill rotWithShape="1">
          <a:blip ns2:embed="rId6">
            <a:alphaModFix/>
          </a:blip>
          <a:srcRect b="0" l="0" r="0" t="0"/>
          <a:stretch/>
        </p:blipFill>
        <p:spPr>
          <a:xfrm>
            <a:off x="689225" y="5835600"/>
            <a:ext cx="10668000" cy="495300"/>
          </a:xfrm>
          <a:prstGeom prst="rect">
            <a:avLst/>
          </a:prstGeom>
          <a:noFill/>
          <a:ln>
            <a:noFill/>
          </a:ln>
        </p:spPr>
      </p:pic>
      <p:sp>
        <p:nvSpPr>
          <p:cNvPr id="125" name="Google Shape;125;p15"/>
          <p:cNvSpPr txBox="1"/>
          <p:nvPr/>
        </p:nvSpPr>
        <p:spPr>
          <a:xfrm>
            <a:off x="1142406" y="5988000"/>
            <a:ext cx="552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366F1"/>
                </a:solidFill>
                <a:latin typeface="Inter SemiBold"/>
                <a:ea typeface="Inter SemiBold"/>
                <a:cs typeface="Inter SemiBold"/>
                <a:sym typeface="Inter SemiBold"/>
              </a:rPr>
              <a:t>IDEATE</a:t>
            </a:r>
            <a:endParaRPr/>
          </a:p>
        </p:txBody>
      </p:sp>
      <p:pic>
        <p:nvPicPr>
          <p:cNvPr descr="image.png" id="126" name="Google Shape;126;p15"/>
          <p:cNvPicPr preferRelativeResize="0"/>
          <p:nvPr/>
        </p:nvPicPr>
        <p:blipFill rotWithShape="1">
          <a:blip ns2:embed="rId7">
            <a:alphaModFix/>
          </a:blip>
          <a:srcRect b="0" l="0" r="0" t="0"/>
          <a:stretch/>
        </p:blipFill>
        <p:spPr>
          <a:xfrm>
            <a:off x="2296568" y="5988000"/>
            <a:ext cx="95250" cy="190500"/>
          </a:xfrm>
          <a:prstGeom prst="rect">
            <a:avLst/>
          </a:prstGeom>
          <a:noFill/>
          <a:ln>
            <a:noFill/>
          </a:ln>
        </p:spPr>
      </p:pic>
      <p:sp>
        <p:nvSpPr>
          <p:cNvPr id="127" name="Google Shape;127;p15"/>
          <p:cNvSpPr txBox="1"/>
          <p:nvPr/>
        </p:nvSpPr>
        <p:spPr>
          <a:xfrm>
            <a:off x="2812624" y="5988000"/>
            <a:ext cx="752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DESIGN</a:t>
            </a:r>
            <a:endParaRPr/>
          </a:p>
        </p:txBody>
      </p:sp>
      <p:pic>
        <p:nvPicPr>
          <p:cNvPr descr="image.png" id="128" name="Google Shape;128;p15"/>
          <p:cNvPicPr preferRelativeResize="0"/>
          <p:nvPr/>
        </p:nvPicPr>
        <p:blipFill rotWithShape="1">
          <a:blip ns2:embed="rId8">
            <a:alphaModFix/>
          </a:blip>
          <a:srcRect b="0" l="0" r="0" t="0"/>
          <a:stretch/>
        </p:blipFill>
        <p:spPr>
          <a:xfrm>
            <a:off x="4166742" y="5988000"/>
            <a:ext cx="95250" cy="190500"/>
          </a:xfrm>
          <a:prstGeom prst="rect">
            <a:avLst/>
          </a:prstGeom>
          <a:noFill/>
          <a:ln>
            <a:noFill/>
          </a:ln>
        </p:spPr>
      </p:pic>
      <p:sp>
        <p:nvSpPr>
          <p:cNvPr id="129" name="Google Shape;129;p15"/>
          <p:cNvSpPr txBox="1"/>
          <p:nvPr/>
        </p:nvSpPr>
        <p:spPr>
          <a:xfrm>
            <a:off x="4863705" y="5988000"/>
            <a:ext cx="457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BUILD</a:t>
            </a:r>
            <a:endParaRPr/>
          </a:p>
        </p:txBody>
      </p:sp>
      <p:pic>
        <p:nvPicPr>
          <p:cNvPr descr="image.png" id="130" name="Google Shape;130;p15"/>
          <p:cNvPicPr preferRelativeResize="0"/>
          <p:nvPr/>
        </p:nvPicPr>
        <p:blipFill rotWithShape="1">
          <a:blip ns2:embed="rId7">
            <a:alphaModFix/>
          </a:blip>
          <a:srcRect b="0" l="0" r="0" t="0"/>
          <a:stretch/>
        </p:blipFill>
        <p:spPr>
          <a:xfrm>
            <a:off x="5922617" y="5988000"/>
            <a:ext cx="95250" cy="190500"/>
          </a:xfrm>
          <a:prstGeom prst="rect">
            <a:avLst/>
          </a:prstGeom>
          <a:noFill/>
          <a:ln>
            <a:noFill/>
          </a:ln>
        </p:spPr>
      </p:pic>
      <p:sp>
        <p:nvSpPr>
          <p:cNvPr id="131" name="Google Shape;131;p15"/>
          <p:cNvSpPr txBox="1"/>
          <p:nvPr/>
        </p:nvSpPr>
        <p:spPr>
          <a:xfrm>
            <a:off x="6619579" y="5988000"/>
            <a:ext cx="400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TEST</a:t>
            </a:r>
            <a:endParaRPr/>
          </a:p>
        </p:txBody>
      </p:sp>
      <p:pic>
        <p:nvPicPr>
          <p:cNvPr descr="image.png" id="132" name="Google Shape;132;p15"/>
          <p:cNvPicPr preferRelativeResize="0"/>
          <p:nvPr/>
        </p:nvPicPr>
        <p:blipFill rotWithShape="1">
          <a:blip ns2:embed="rId7">
            <a:alphaModFix/>
          </a:blip>
          <a:srcRect b="0" l="0" r="0" t="0"/>
          <a:stretch/>
        </p:blipFill>
        <p:spPr>
          <a:xfrm>
            <a:off x="7621341" y="5988000"/>
            <a:ext cx="95250" cy="190500"/>
          </a:xfrm>
          <a:prstGeom prst="rect">
            <a:avLst/>
          </a:prstGeom>
          <a:noFill/>
          <a:ln>
            <a:noFill/>
          </a:ln>
        </p:spPr>
      </p:pic>
      <p:sp>
        <p:nvSpPr>
          <p:cNvPr id="133" name="Google Shape;133;p15"/>
          <p:cNvSpPr txBox="1"/>
          <p:nvPr/>
        </p:nvSpPr>
        <p:spPr>
          <a:xfrm>
            <a:off x="8165824" y="5988000"/>
            <a:ext cx="752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DEPLOY</a:t>
            </a:r>
            <a:endParaRPr/>
          </a:p>
        </p:txBody>
      </p:sp>
      <p:pic>
        <p:nvPicPr>
          <p:cNvPr descr="image.png" id="134" name="Google Shape;134;p15"/>
          <p:cNvPicPr preferRelativeResize="0"/>
          <p:nvPr/>
        </p:nvPicPr>
        <p:blipFill rotWithShape="1">
          <a:blip ns2:embed="rId8">
            <a:alphaModFix/>
          </a:blip>
          <a:srcRect b="0" l="0" r="0" t="0"/>
          <a:stretch/>
        </p:blipFill>
        <p:spPr>
          <a:xfrm>
            <a:off x="9520090" y="5988000"/>
            <a:ext cx="95250" cy="190500"/>
          </a:xfrm>
          <a:prstGeom prst="rect">
            <a:avLst/>
          </a:prstGeom>
          <a:noFill/>
          <a:ln>
            <a:noFill/>
          </a:ln>
        </p:spPr>
      </p:pic>
      <p:sp>
        <p:nvSpPr>
          <p:cNvPr id="135" name="Google Shape;135;p15"/>
          <p:cNvSpPr txBox="1"/>
          <p:nvPr/>
        </p:nvSpPr>
        <p:spPr>
          <a:xfrm>
            <a:off x="10074325" y="5988000"/>
            <a:ext cx="828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IMPROVE</a:t>
            </a:r>
            <a:endParaRPr/>
          </a:p>
        </p:txBody>
      </p:sp>
      <p:sp>
        <p:nvSpPr>
          <p:cNvPr id="136" name="Google Shape;136;p15"/>
          <p:cNvSpPr txBox="1"/>
          <p:nvPr/>
        </p:nvSpPr>
        <p:spPr>
          <a:xfrm>
            <a:off x="962025" y="2257425"/>
            <a:ext cx="100137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Natural-language ideation + generated ABL shorten time to first working agent.</a:t>
            </a:r>
            <a:endParaRPr/>
          </a:p>
        </p:txBody>
      </p:sp>
      <p:sp>
        <p:nvSpPr>
          <p:cNvPr id="137" name="Google Shape;137;p15"/>
          <p:cNvSpPr txBox="1"/>
          <p:nvPr/>
        </p:nvSpPr>
        <p:spPr>
          <a:xfrm>
            <a:off x="1178964" y="3607457"/>
            <a:ext cx="96885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Build, deploy, and manage agents from Studio or any IDE/AI via MCP.</a:t>
            </a:r>
            <a:endParaRPr/>
          </a:p>
        </p:txBody>
      </p:sp>
      <p:sp>
        <p:nvSpPr>
          <p:cNvPr id="138" name="Google Shape;138;p15"/>
          <p:cNvSpPr txBox="1"/>
          <p:nvPr/>
        </p:nvSpPr>
        <p:spPr>
          <a:xfrm>
            <a:off x="1178926" y="4908221"/>
            <a:ext cx="96885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Trace every decision, tool call, and handoff to troubleshoot and fix faster.</a:t>
            </a:r>
            <a:endParaRPr/>
          </a:p>
        </p:txBody>
      </p:sp>
      <p:pic>
        <p:nvPicPr>
          <p:cNvPr descr="image.png" id="139" name="Google Shape;139;p15"/>
          <p:cNvPicPr preferRelativeResize="0"/>
          <p:nvPr/>
        </p:nvPicPr>
        <p:blipFill rotWithShape="1">
          <a:blip ns2:embed="rId9">
            <a:alphaModFix/>
          </a:blip>
          <a:srcRect b="0" l="0" r="0" t="0"/>
          <a:stretch/>
        </p:blipFill>
        <p:spPr>
          <a:xfrm>
            <a:off x="962025" y="1866900"/>
            <a:ext cx="257175" cy="228600"/>
          </a:xfrm>
          <a:prstGeom prst="rect">
            <a:avLst/>
          </a:prstGeom>
          <a:noFill/>
          <a:ln>
            <a:noFill/>
          </a:ln>
        </p:spPr>
      </p:pic>
      <p:sp>
        <p:nvSpPr>
          <p:cNvPr id="140" name="Google Shape;140;p15"/>
          <p:cNvSpPr txBox="1"/>
          <p:nvPr/>
        </p:nvSpPr>
        <p:spPr>
          <a:xfrm>
            <a:off x="1362075" y="1847850"/>
            <a:ext cx="3030378"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Any IDE + Any AI</a:t>
            </a:r>
            <a:endParaRPr/>
          </a:p>
        </p:txBody>
      </p:sp>
      <p:pic>
        <p:nvPicPr>
          <p:cNvPr descr="image.png" id="141" name="Google Shape;141;p15"/>
          <p:cNvPicPr preferRelativeResize="0"/>
          <p:nvPr/>
        </p:nvPicPr>
        <p:blipFill rotWithShape="1">
          <a:blip ns2:embed="rId10">
            <a:alphaModFix/>
          </a:blip>
          <a:srcRect b="0" l="0" r="0" t="0"/>
          <a:stretch/>
        </p:blipFill>
        <p:spPr>
          <a:xfrm>
            <a:off x="962025" y="3256973"/>
            <a:ext cx="228600" cy="228600"/>
          </a:xfrm>
          <a:prstGeom prst="rect">
            <a:avLst/>
          </a:prstGeom>
          <a:noFill/>
          <a:ln>
            <a:noFill/>
          </a:ln>
        </p:spPr>
      </p:pic>
      <p:sp>
        <p:nvSpPr>
          <p:cNvPr id="142" name="Google Shape;142;p15"/>
          <p:cNvSpPr txBox="1"/>
          <p:nvPr/>
        </p:nvSpPr>
        <p:spPr>
          <a:xfrm>
            <a:off x="1333500" y="3237923"/>
            <a:ext cx="1670100" cy="2541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Build Faster</a:t>
            </a:r>
            <a:endParaRPr/>
          </a:p>
        </p:txBody>
      </p:sp>
      <p:pic>
        <p:nvPicPr>
          <p:cNvPr descr="image.png" id="143" name="Google Shape;143;p15"/>
          <p:cNvPicPr preferRelativeResize="0"/>
          <p:nvPr/>
        </p:nvPicPr>
        <p:blipFill rotWithShape="1">
          <a:blip ns2:embed="rId11">
            <a:alphaModFix/>
          </a:blip>
          <a:srcRect b="0" l="0" r="0" t="0"/>
          <a:stretch/>
        </p:blipFill>
        <p:spPr>
          <a:xfrm>
            <a:off x="962025" y="4647048"/>
            <a:ext cx="228600" cy="228600"/>
          </a:xfrm>
          <a:prstGeom prst="rect">
            <a:avLst/>
          </a:prstGeom>
          <a:noFill/>
          <a:ln>
            <a:noFill/>
          </a:ln>
        </p:spPr>
      </p:pic>
      <p:sp>
        <p:nvSpPr>
          <p:cNvPr id="144" name="Google Shape;144;p15"/>
          <p:cNvSpPr txBox="1"/>
          <p:nvPr/>
        </p:nvSpPr>
        <p:spPr>
          <a:xfrm>
            <a:off x="1333500" y="4627998"/>
            <a:ext cx="1460100" cy="2541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Troubleshoot Faster</a:t>
            </a:r>
            <a:endParaRPr/>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pic>
        <p:nvPicPr>
          <p:cNvPr descr="image.png" id="149" name="Google Shape;149;p16"/>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50" name="Google Shape;150;p16"/>
          <p:cNvPicPr preferRelativeResize="0"/>
          <p:nvPr/>
        </p:nvPicPr>
        <p:blipFill rotWithShape="1">
          <a:blip ns2:embed="rId4">
            <a:alphaModFix/>
          </a:blip>
          <a:srcRect b="0" l="0" r="0" t="0"/>
          <a:stretch/>
        </p:blipFill>
        <p:spPr>
          <a:xfrm>
            <a:off x="762000" y="1743075"/>
            <a:ext cx="5191125" cy="2128837"/>
          </a:xfrm>
          <a:prstGeom prst="rect">
            <a:avLst/>
          </a:prstGeom>
          <a:noFill/>
          <a:ln>
            <a:noFill/>
          </a:ln>
        </p:spPr>
      </p:pic>
      <p:pic>
        <p:nvPicPr>
          <p:cNvPr descr="image.png" id="151" name="Google Shape;151;p16"/>
          <p:cNvPicPr preferRelativeResize="0"/>
          <p:nvPr/>
        </p:nvPicPr>
        <p:blipFill rotWithShape="1">
          <a:blip ns2:embed="rId4">
            <a:alphaModFix/>
          </a:blip>
          <a:srcRect b="0" l="0" r="0" t="0"/>
          <a:stretch/>
        </p:blipFill>
        <p:spPr>
          <a:xfrm>
            <a:off x="6238875" y="1743075"/>
            <a:ext cx="5191125" cy="2128837"/>
          </a:xfrm>
          <a:prstGeom prst="rect">
            <a:avLst/>
          </a:prstGeom>
          <a:noFill/>
          <a:ln>
            <a:noFill/>
          </a:ln>
        </p:spPr>
      </p:pic>
      <p:pic>
        <p:nvPicPr>
          <p:cNvPr descr="image.png" id="152" name="Google Shape;152;p16"/>
          <p:cNvPicPr preferRelativeResize="0"/>
          <p:nvPr/>
        </p:nvPicPr>
        <p:blipFill rotWithShape="1">
          <a:blip ns2:embed="rId5">
            <a:alphaModFix/>
          </a:blip>
          <a:srcRect b="0" l="0" r="0" t="0"/>
          <a:stretch/>
        </p:blipFill>
        <p:spPr>
          <a:xfrm>
            <a:off x="762000" y="4157662"/>
            <a:ext cx="5191125" cy="2128837"/>
          </a:xfrm>
          <a:prstGeom prst="rect">
            <a:avLst/>
          </a:prstGeom>
          <a:noFill/>
          <a:ln>
            <a:noFill/>
          </a:ln>
        </p:spPr>
      </p:pic>
      <p:pic>
        <p:nvPicPr>
          <p:cNvPr descr="image.png" id="153" name="Google Shape;153;p16"/>
          <p:cNvPicPr preferRelativeResize="0"/>
          <p:nvPr/>
        </p:nvPicPr>
        <p:blipFill rotWithShape="1">
          <a:blip ns2:embed="rId5">
            <a:alphaModFix/>
          </a:blip>
          <a:srcRect b="0" l="0" r="0" t="0"/>
          <a:stretch/>
        </p:blipFill>
        <p:spPr>
          <a:xfrm>
            <a:off x="6238875" y="4157662"/>
            <a:ext cx="5191125" cy="2128837"/>
          </a:xfrm>
          <a:prstGeom prst="rect">
            <a:avLst/>
          </a:prstGeom>
          <a:noFill/>
          <a:ln>
            <a:noFill/>
          </a:ln>
        </p:spPr>
      </p:pic>
      <p:sp>
        <p:nvSpPr>
          <p:cNvPr id="154" name="Google Shape;154;p16"/>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04</a:t>
            </a:r>
            <a:endParaRPr/>
          </a:p>
        </p:txBody>
      </p:sp>
      <p:sp>
        <p:nvSpPr>
          <p:cNvPr id="155" name="Google Shape;155;p16"/>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Operational Benefits for Existing Customers</a:t>
            </a:r>
            <a:endParaRPr/>
          </a:p>
        </p:txBody>
      </p:sp>
      <p:sp>
        <p:nvSpPr>
          <p:cNvPr id="156" name="Google Shape;156;p16"/>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LOWER COST, STRONGER CONTROL, HIGHER RELIABILITY</a:t>
            </a:r>
            <a:endParaRPr/>
          </a:p>
        </p:txBody>
      </p:sp>
      <p:pic>
        <p:nvPicPr>
          <p:cNvPr descr="image.png" id="157" name="Google Shape;157;p16"/>
          <p:cNvPicPr preferRelativeResize="0"/>
          <p:nvPr/>
        </p:nvPicPr>
        <p:blipFill rotWithShape="1">
          <a:blip ns2:embed="rId6">
            <a:alphaModFix/>
          </a:blip>
          <a:srcRect b="0" l="0" r="0" t="0"/>
          <a:stretch/>
        </p:blipFill>
        <p:spPr>
          <a:xfrm>
            <a:off x="1057275" y="2038350"/>
            <a:ext cx="4600575" cy="304800"/>
          </a:xfrm>
          <a:prstGeom prst="rect">
            <a:avLst/>
          </a:prstGeom>
          <a:noFill/>
          <a:ln>
            <a:noFill/>
          </a:ln>
        </p:spPr>
      </p:pic>
      <p:sp>
        <p:nvSpPr>
          <p:cNvPr id="158" name="Google Shape;158;p16"/>
          <p:cNvSpPr txBox="1"/>
          <p:nvPr/>
        </p:nvSpPr>
        <p:spPr>
          <a:xfrm>
            <a:off x="1057275" y="2533650"/>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Lower Hardware Footprint (VPC Only)</a:t>
            </a:r>
            <a:endParaRPr/>
          </a:p>
        </p:txBody>
      </p:sp>
      <p:sp>
        <p:nvSpPr>
          <p:cNvPr id="159" name="Google Shape;159;p16"/>
          <p:cNvSpPr txBox="1"/>
          <p:nvPr/>
        </p:nvSpPr>
        <p:spPr>
          <a:xfrm>
            <a:off x="1057275" y="2943225"/>
            <a:ext cx="4600575" cy="457200"/>
          </a:xfrm>
          <a:prstGeom prst="rect">
            <a:avLst/>
          </a:prstGeom>
          <a:noFill/>
          <a:ln>
            <a:noFill/>
          </a:ln>
        </p:spPr>
        <p:txBody>
          <a:bodyPr anchorCtr="0" anchor="t" bIns="0" lIns="0" spcFirstLastPara="1" rIns="0" wrap="square" tIns="0">
            <a:spAutoFit/>
          </a:bodyPr>
          <a:lstStyle/>
          <a:p>
            <a:r>
              <a:rPr b="0" i="0" lang="en-US" sz="1125" u="none" cap="none" strike="noStrike">
                <a:solidFill>
                  <a:srgbClr val="475569"/>
                </a:solidFill>
                <a:latin typeface="Inter"/>
                <a:ea typeface="Inter"/>
                <a:cs typeface="Inter"/>
                <a:sym typeface="Inter"/>
              </a:rPr>
              <a:t>Rearchitected runtime reduces infrastructure footprint for VPC deployments via efficient stateless scaling.</a:t>
            </a:r>
            <a:endParaRPr/>
          </a:p>
        </p:txBody>
      </p:sp>
      <p:pic>
        <p:nvPicPr>
          <p:cNvPr descr="image.png" id="160" name="Google Shape;160;p16"/>
          <p:cNvPicPr preferRelativeResize="0"/>
          <p:nvPr/>
        </p:nvPicPr>
        <p:blipFill rotWithShape="1">
          <a:blip ns2:embed="rId7">
            <a:alphaModFix/>
          </a:blip>
          <a:srcRect b="0" l="0" r="0" t="0"/>
          <a:stretch/>
        </p:blipFill>
        <p:spPr>
          <a:xfrm>
            <a:off x="6534150" y="2038350"/>
            <a:ext cx="4600575" cy="304800"/>
          </a:xfrm>
          <a:prstGeom prst="rect">
            <a:avLst/>
          </a:prstGeom>
          <a:noFill/>
          <a:ln>
            <a:noFill/>
          </a:ln>
        </p:spPr>
      </p:pic>
      <p:sp>
        <p:nvSpPr>
          <p:cNvPr id="161" name="Google Shape;161;p16"/>
          <p:cNvSpPr txBox="1"/>
          <p:nvPr/>
        </p:nvSpPr>
        <p:spPr>
          <a:xfrm>
            <a:off x="6534150" y="2533650"/>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Version + Deployment Management</a:t>
            </a:r>
            <a:endParaRPr/>
          </a:p>
        </p:txBody>
      </p:sp>
      <p:sp>
        <p:nvSpPr>
          <p:cNvPr id="162" name="Google Shape;162;p16"/>
          <p:cNvSpPr txBox="1"/>
          <p:nvPr/>
        </p:nvSpPr>
        <p:spPr>
          <a:xfrm>
            <a:off x="6534150" y="2943225"/>
            <a:ext cx="4600500" cy="727200"/>
          </a:xfrm>
          <a:prstGeom prst="rect">
            <a:avLst/>
          </a:prstGeom>
          <a:noFill/>
          <a:ln>
            <a:noFill/>
          </a:ln>
        </p:spPr>
        <p:txBody>
          <a:bodyPr anchorCtr="0" anchor="t" bIns="0" lIns="0" spcFirstLastPara="1" rIns="0" wrap="square" tIns="0">
            <a:spAutoFit/>
          </a:bodyPr>
          <a:lstStyle/>
          <a:p>
            <a:r>
              <a:rPr lang="en-US" sz="1125">
                <a:solidFill>
                  <a:srgbClr val="475569"/>
                </a:solidFill>
                <a:latin typeface="Inter"/>
                <a:ea typeface="Inter"/>
                <a:cs typeface="Inter"/>
                <a:sym typeface="Inter"/>
              </a:rPr>
              <a:t>Immutable versioned releases, environment controls, and rapid rollback improve release safety.</a:t>
            </a:r>
            <a:endParaRPr/>
          </a:p>
        </p:txBody>
      </p:sp>
      <p:pic>
        <p:nvPicPr>
          <p:cNvPr descr="image.png" id="163" name="Google Shape;163;p16"/>
          <p:cNvPicPr preferRelativeResize="0"/>
          <p:nvPr/>
        </p:nvPicPr>
        <p:blipFill rotWithShape="1">
          <a:blip ns2:embed="rId8">
            <a:alphaModFix/>
          </a:blip>
          <a:srcRect b="0" l="0" r="0" t="0"/>
          <a:stretch/>
        </p:blipFill>
        <p:spPr>
          <a:xfrm>
            <a:off x="1057275" y="4452937"/>
            <a:ext cx="4600575" cy="304800"/>
          </a:xfrm>
          <a:prstGeom prst="rect">
            <a:avLst/>
          </a:prstGeom>
          <a:noFill/>
          <a:ln>
            <a:noFill/>
          </a:ln>
        </p:spPr>
      </p:pic>
      <p:sp>
        <p:nvSpPr>
          <p:cNvPr id="164" name="Google Shape;164;p16"/>
          <p:cNvSpPr txBox="1"/>
          <p:nvPr/>
        </p:nvSpPr>
        <p:spPr>
          <a:xfrm>
            <a:off x="1057275" y="4948237"/>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Enhanced Observability</a:t>
            </a:r>
            <a:endParaRPr/>
          </a:p>
        </p:txBody>
      </p:sp>
      <p:sp>
        <p:nvSpPr>
          <p:cNvPr id="165" name="Google Shape;165;p16"/>
          <p:cNvSpPr txBox="1"/>
          <p:nvPr/>
        </p:nvSpPr>
        <p:spPr>
          <a:xfrm>
            <a:off x="1057275" y="5357812"/>
            <a:ext cx="4600500" cy="727200"/>
          </a:xfrm>
          <a:prstGeom prst="rect">
            <a:avLst/>
          </a:prstGeom>
          <a:noFill/>
          <a:ln>
            <a:noFill/>
          </a:ln>
        </p:spPr>
        <p:txBody>
          <a:bodyPr anchorCtr="0" anchor="t" bIns="0" lIns="0" spcFirstLastPara="1" rIns="0" wrap="square" tIns="0">
            <a:spAutoFit/>
          </a:bodyPr>
          <a:lstStyle/>
          <a:p>
            <a:r>
              <a:rPr lang="en-US" sz="1125">
                <a:solidFill>
                  <a:srgbClr val="475569"/>
                </a:solidFill>
                <a:latin typeface="Inter"/>
                <a:ea typeface="Inter"/>
                <a:cs typeface="Inter"/>
                <a:sym typeface="Inter"/>
              </a:rPr>
              <a:t>End-to-end traces, runtime health metrics, and guardrail telemetry make issues easier to isolate and fix.</a:t>
            </a:r>
            <a:endParaRPr/>
          </a:p>
        </p:txBody>
      </p:sp>
      <p:pic>
        <p:nvPicPr>
          <p:cNvPr descr="image.png" id="166" name="Google Shape;166;p16"/>
          <p:cNvPicPr preferRelativeResize="0"/>
          <p:nvPr/>
        </p:nvPicPr>
        <p:blipFill rotWithShape="1">
          <a:blip ns2:embed="rId9">
            <a:alphaModFix/>
          </a:blip>
          <a:srcRect b="0" l="0" r="0" t="0"/>
          <a:stretch/>
        </p:blipFill>
        <p:spPr>
          <a:xfrm>
            <a:off x="6534150" y="4452937"/>
            <a:ext cx="4600575" cy="304800"/>
          </a:xfrm>
          <a:prstGeom prst="rect">
            <a:avLst/>
          </a:prstGeom>
          <a:noFill/>
          <a:ln>
            <a:noFill/>
          </a:ln>
        </p:spPr>
      </p:pic>
      <p:sp>
        <p:nvSpPr>
          <p:cNvPr id="167" name="Google Shape;167;p16"/>
          <p:cNvSpPr txBox="1"/>
          <p:nvPr/>
        </p:nvSpPr>
        <p:spPr>
          <a:xfrm>
            <a:off x="6534150" y="4948237"/>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Enterprise Guardrails</a:t>
            </a:r>
            <a:endParaRPr/>
          </a:p>
        </p:txBody>
      </p:sp>
      <p:sp>
        <p:nvSpPr>
          <p:cNvPr id="168" name="Google Shape;168;p16"/>
          <p:cNvSpPr txBox="1"/>
          <p:nvPr/>
        </p:nvSpPr>
        <p:spPr>
          <a:xfrm>
            <a:off x="6534150" y="5357812"/>
            <a:ext cx="4600500" cy="450300"/>
          </a:xfrm>
          <a:prstGeom prst="rect">
            <a:avLst/>
          </a:prstGeom>
          <a:noFill/>
          <a:ln>
            <a:noFill/>
          </a:ln>
        </p:spPr>
        <p:txBody>
          <a:bodyPr anchorCtr="0" anchor="t" bIns="0" lIns="0" spcFirstLastPara="1" rIns="0" wrap="square" tIns="0">
            <a:spAutoFit/>
          </a:bodyPr>
          <a:lstStyle/>
          <a:p>
            <a:r>
              <a:rPr b="0" i="0" lang="en-US" sz="1125" u="none" cap="none" strike="noStrike">
                <a:solidFill>
                  <a:srgbClr val="475569"/>
                </a:solidFill>
                <a:latin typeface="Inter"/>
                <a:ea typeface="Inter"/>
                <a:cs typeface="Inter"/>
                <a:sym typeface="Inter"/>
              </a:rPr>
              <a:t>Tenant isolation, compliance controls, and deterministic policy enforcement remain built in by default.</a:t>
            </a:r>
            <a:endParaRPr/>
          </a:p>
        </p:txBody>
      </p:sp>
    </p:spTree>
  </p:cSld>
  <p:clrMapOvr>
    <a:masterClrMapping/>
  </p:clrMapOvr>
</p:sld>
</file>

<file path=ppt/slides/slide5.xml><?xml version="1.0" encoding="utf-8"?>
<p:sld xmlns:a="http://schemas.openxmlformats.org/drawingml/2006/main" xmlns:ns2="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pic>
        <p:nvPicPr>
          <p:cNvPr descr="image.png" id="173" name="Google Shape;173;p17"/>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74" name="Google Shape;174;p17"/>
          <p:cNvPicPr preferRelativeResize="0"/>
          <p:nvPr/>
        </p:nvPicPr>
        <p:blipFill rotWithShape="1">
          <a:blip ns2:embed="rId4">
            <a:alphaModFix/>
          </a:blip>
          <a:srcRect b="0" l="0" r="0" t="0"/>
          <a:stretch/>
        </p:blipFill>
        <p:spPr>
          <a:xfrm>
            <a:off x="762000" y="1743075"/>
            <a:ext cx="5048250" cy="4543425"/>
          </a:xfrm>
          <a:prstGeom prst="rect">
            <a:avLst/>
          </a:prstGeom>
          <a:noFill/>
          <a:ln>
            <a:noFill/>
          </a:ln>
        </p:spPr>
      </p:pic>
      <p:pic>
        <p:nvPicPr>
          <p:cNvPr descr="image.png" id="175" name="Google Shape;175;p17"/>
          <p:cNvPicPr preferRelativeResize="0"/>
          <p:nvPr/>
        </p:nvPicPr>
        <p:blipFill rotWithShape="1">
          <a:blip ns2:embed="rId5">
            <a:alphaModFix/>
          </a:blip>
          <a:srcRect b="0" l="0" r="0" t="0"/>
          <a:stretch/>
        </p:blipFill>
        <p:spPr>
          <a:xfrm>
            <a:off x="6381750" y="1743075"/>
            <a:ext cx="5048250" cy="4543425"/>
          </a:xfrm>
          <a:prstGeom prst="rect">
            <a:avLst/>
          </a:prstGeom>
          <a:noFill/>
          <a:ln>
            <a:noFill/>
          </a:ln>
        </p:spPr>
      </p:pic>
      <p:sp>
        <p:nvSpPr>
          <p:cNvPr id="176" name="Google Shape;176;p17"/>
          <p:cNvSpPr txBox="1"/>
          <p:nvPr/>
        </p:nvSpPr>
        <p:spPr>
          <a:xfrm>
            <a:off x="11458575" y="6410325"/>
            <a:ext cx="1619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05</a:t>
            </a:r>
            <a:endParaRPr/>
          </a:p>
        </p:txBody>
      </p:sp>
      <p:sp>
        <p:nvSpPr>
          <p:cNvPr id="177" name="Google Shape;177;p17"/>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Comprehensive Analytics Built In</a:t>
            </a:r>
            <a:endParaRPr/>
          </a:p>
        </p:txBody>
      </p:sp>
      <p:sp>
        <p:nvSpPr>
          <p:cNvPr id="178" name="Google Shape;178;p17"/>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NLU-DRIVEN INSIGHTS + BUSINESS OUTCOMES</a:t>
            </a:r>
            <a:endParaRPr/>
          </a:p>
        </p:txBody>
      </p:sp>
      <p:pic>
        <p:nvPicPr>
          <p:cNvPr descr="image.png" id="179" name="Google Shape;179;p17"/>
          <p:cNvPicPr preferRelativeResize="0"/>
          <p:nvPr/>
        </p:nvPicPr>
        <p:blipFill rotWithShape="1">
          <a:blip ns2:embed="rId6">
            <a:alphaModFix/>
          </a:blip>
          <a:srcRect b="0" l="0" r="0" t="0"/>
          <a:stretch/>
        </p:blipFill>
        <p:spPr>
          <a:xfrm>
            <a:off x="1057275" y="2038350"/>
            <a:ext cx="381000" cy="381000"/>
          </a:xfrm>
          <a:prstGeom prst="rect">
            <a:avLst/>
          </a:prstGeom>
          <a:noFill/>
          <a:ln>
            <a:noFill/>
          </a:ln>
        </p:spPr>
      </p:pic>
      <p:sp>
        <p:nvSpPr>
          <p:cNvPr id="180" name="Google Shape;180;p17"/>
          <p:cNvSpPr txBox="1"/>
          <p:nvPr/>
        </p:nvSpPr>
        <p:spPr>
          <a:xfrm>
            <a:off x="1581150" y="2057400"/>
            <a:ext cx="1290161" cy="342900"/>
          </a:xfrm>
          <a:prstGeom prst="rect">
            <a:avLst/>
          </a:prstGeom>
          <a:noFill/>
          <a:ln>
            <a:noFill/>
          </a:ln>
        </p:spPr>
        <p:txBody>
          <a:bodyPr anchorCtr="0" anchor="t" bIns="0" lIns="0" spcFirstLastPara="1" rIns="0" wrap="square" tIns="0">
            <a:spAutoFit/>
          </a:bodyPr>
          <a:lstStyle/>
          <a:p>
            <a:r>
              <a:rPr b="1" i="0" lang="en-US" sz="2100" u="none" cap="none" strike="noStrike">
                <a:solidFill>
                  <a:srgbClr val="1E293B"/>
                </a:solidFill>
                <a:latin typeface="Space Grotesk"/>
                <a:ea typeface="Space Grotesk"/>
                <a:cs typeface="Space Grotesk"/>
                <a:sym typeface="Space Grotesk"/>
              </a:rPr>
              <a:t>NLU Dashboards</a:t>
            </a:r>
            <a:endParaRPr/>
          </a:p>
        </p:txBody>
      </p:sp>
      <p:sp>
        <p:nvSpPr>
          <p:cNvPr id="181" name="Google Shape;181;p17"/>
          <p:cNvSpPr txBox="1"/>
          <p:nvPr/>
        </p:nvSpPr>
        <p:spPr>
          <a:xfrm>
            <a:off x="1057275" y="2752725"/>
            <a:ext cx="44577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Automatically surface intent trends, containment drivers, and resolution patterns.</a:t>
            </a:r>
            <a:endParaRPr/>
          </a:p>
        </p:txBody>
      </p:sp>
      <p:sp>
        <p:nvSpPr>
          <p:cNvPr id="182" name="Google Shape;182;p17"/>
          <p:cNvSpPr txBox="1"/>
          <p:nvPr/>
        </p:nvSpPr>
        <p:spPr>
          <a:xfrm>
            <a:off x="1057275" y="3444180"/>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Drill down by agent, flow step, channel, user segment, model, and release version.</a:t>
            </a:r>
            <a:endParaRPr/>
          </a:p>
        </p:txBody>
      </p:sp>
      <p:sp>
        <p:nvSpPr>
          <p:cNvPr id="183" name="Google Shape;183;p17"/>
          <p:cNvSpPr txBox="1"/>
          <p:nvPr/>
        </p:nvSpPr>
        <p:spPr>
          <a:xfrm>
            <a:off x="1057275" y="413563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Identify friction early and prioritize high-impact fixes.</a:t>
            </a:r>
            <a:endParaRPr/>
          </a:p>
        </p:txBody>
      </p:sp>
      <p:pic>
        <p:nvPicPr>
          <p:cNvPr descr="image.png" id="184" name="Google Shape;184;p17"/>
          <p:cNvPicPr preferRelativeResize="0"/>
          <p:nvPr/>
        </p:nvPicPr>
        <p:blipFill rotWithShape="1">
          <a:blip ns2:embed="rId7">
            <a:alphaModFix/>
          </a:blip>
          <a:srcRect b="0" l="0" r="0" t="0"/>
          <a:stretch/>
        </p:blipFill>
        <p:spPr>
          <a:xfrm>
            <a:off x="6677025" y="2038350"/>
            <a:ext cx="381000" cy="381000"/>
          </a:xfrm>
          <a:prstGeom prst="rect">
            <a:avLst/>
          </a:prstGeom>
          <a:noFill/>
          <a:ln>
            <a:noFill/>
          </a:ln>
        </p:spPr>
      </p:pic>
      <p:sp>
        <p:nvSpPr>
          <p:cNvPr id="185" name="Google Shape;185;p17"/>
          <p:cNvSpPr txBox="1"/>
          <p:nvPr/>
        </p:nvSpPr>
        <p:spPr>
          <a:xfrm>
            <a:off x="7200900" y="2057400"/>
            <a:ext cx="2670333" cy="342900"/>
          </a:xfrm>
          <a:prstGeom prst="rect">
            <a:avLst/>
          </a:prstGeom>
          <a:noFill/>
          <a:ln>
            <a:noFill/>
          </a:ln>
        </p:spPr>
        <p:txBody>
          <a:bodyPr anchorCtr="0" anchor="t" bIns="0" lIns="0" spcFirstLastPara="1" rIns="0" wrap="square" tIns="0">
            <a:spAutoFit/>
          </a:bodyPr>
          <a:lstStyle/>
          <a:p>
            <a:r>
              <a:rPr b="1" i="0" lang="en-US" sz="2100" u="none" cap="none" strike="noStrike">
                <a:solidFill>
                  <a:srgbClr val="1E293B"/>
                </a:solidFill>
                <a:latin typeface="Space Grotesk"/>
                <a:ea typeface="Space Grotesk"/>
                <a:cs typeface="Space Grotesk"/>
                <a:sym typeface="Space Grotesk"/>
              </a:rPr>
              <a:t>Operational + CX Analytics</a:t>
            </a:r>
            <a:endParaRPr/>
          </a:p>
        </p:txBody>
      </p:sp>
      <p:sp>
        <p:nvSpPr>
          <p:cNvPr id="186" name="Google Shape;186;p17"/>
          <p:cNvSpPr txBox="1"/>
          <p:nvPr/>
        </p:nvSpPr>
        <p:spPr>
          <a:xfrm>
            <a:off x="6677025" y="275272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100% conversation evaluation across quality, safety, and compliance dimensions.</a:t>
            </a:r>
            <a:endParaRPr/>
          </a:p>
        </p:txBody>
      </p:sp>
      <p:sp>
        <p:nvSpPr>
          <p:cNvPr id="187" name="Google Shape;187;p17"/>
          <p:cNvSpPr txBox="1"/>
          <p:nvPr/>
        </p:nvSpPr>
        <p:spPr>
          <a:xfrm>
            <a:off x="6677025" y="3444180"/>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Track containment, deflection, handle time, escalation, and cost per interaction in one view.</a:t>
            </a:r>
            <a:endParaRPr/>
          </a:p>
        </p:txBody>
      </p:sp>
      <p:sp>
        <p:nvSpPr>
          <p:cNvPr id="188" name="Google Shape;188;p17"/>
          <p:cNvSpPr txBox="1"/>
          <p:nvPr/>
        </p:nvSpPr>
        <p:spPr>
          <a:xfrm>
            <a:off x="6677025" y="413563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Tie outcomes to deployments so teams can prove improvement after every release.</a:t>
            </a:r>
            <a:endParaRPr/>
          </a:p>
        </p:txBody>
      </p:sp>
    </p:spTree>
  </p:cSld>
  <p:clrMapOvr>
    <a:masterClrMapping/>
  </p:clrMapOvr>
</p:sld>
</file>

<file path=ppt/slides/slide6.xml><?xml version="1.0" encoding="utf-8"?>
<p:sld xmlns:a="http://schemas.openxmlformats.org/drawingml/2006/main" xmlns:ns2="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pic>
        <p:nvPicPr>
          <p:cNvPr descr="image.png" id="193" name="Google Shape;193;p18"/>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94" name="Google Shape;194;p18"/>
          <p:cNvPicPr preferRelativeResize="0"/>
          <p:nvPr/>
        </p:nvPicPr>
        <p:blipFill rotWithShape="1">
          <a:blip ns2:embed="rId4">
            <a:alphaModFix/>
          </a:blip>
          <a:srcRect b="0" l="0" r="0" t="0"/>
          <a:stretch/>
        </p:blipFill>
        <p:spPr>
          <a:xfrm>
            <a:off x="762000" y="5469284"/>
            <a:ext cx="10668000" cy="817215"/>
          </a:xfrm>
          <a:prstGeom prst="rect">
            <a:avLst/>
          </a:prstGeom>
          <a:noFill/>
          <a:ln>
            <a:noFill/>
          </a:ln>
        </p:spPr>
      </p:pic>
      <p:pic>
        <p:nvPicPr>
          <p:cNvPr descr="image.png" id="195" name="Google Shape;195;p18"/>
          <p:cNvPicPr preferRelativeResize="0"/>
          <p:nvPr/>
        </p:nvPicPr>
        <p:blipFill rotWithShape="1">
          <a:blip ns2:embed="rId5">
            <a:alphaModFix/>
          </a:blip>
          <a:srcRect b="0" l="0" r="0" t="0"/>
          <a:stretch/>
        </p:blipFill>
        <p:spPr>
          <a:xfrm>
            <a:off x="762000" y="2314575"/>
            <a:ext cx="476250" cy="476250"/>
          </a:xfrm>
          <a:prstGeom prst="rect">
            <a:avLst/>
          </a:prstGeom>
          <a:noFill/>
          <a:ln>
            <a:noFill/>
          </a:ln>
        </p:spPr>
      </p:pic>
      <p:pic>
        <p:nvPicPr>
          <p:cNvPr descr="image.png" id="196" name="Google Shape;196;p18"/>
          <p:cNvPicPr preferRelativeResize="0"/>
          <p:nvPr/>
        </p:nvPicPr>
        <p:blipFill rotWithShape="1">
          <a:blip ns2:embed="rId6">
            <a:alphaModFix/>
          </a:blip>
          <a:srcRect b="0" l="0" r="0" t="0"/>
          <a:stretch/>
        </p:blipFill>
        <p:spPr>
          <a:xfrm>
            <a:off x="4495800" y="2314575"/>
            <a:ext cx="476250" cy="476250"/>
          </a:xfrm>
          <a:prstGeom prst="rect">
            <a:avLst/>
          </a:prstGeom>
          <a:noFill/>
          <a:ln>
            <a:noFill/>
          </a:ln>
        </p:spPr>
      </p:pic>
      <p:pic>
        <p:nvPicPr>
          <p:cNvPr descr="image.png" id="197" name="Google Shape;197;p18"/>
          <p:cNvPicPr preferRelativeResize="0"/>
          <p:nvPr/>
        </p:nvPicPr>
        <p:blipFill rotWithShape="1">
          <a:blip ns2:embed="rId7">
            <a:alphaModFix/>
          </a:blip>
          <a:srcRect b="0" l="0" r="0" t="0"/>
          <a:stretch/>
        </p:blipFill>
        <p:spPr>
          <a:xfrm>
            <a:off x="8229600" y="2314575"/>
            <a:ext cx="476250" cy="476250"/>
          </a:xfrm>
          <a:prstGeom prst="rect">
            <a:avLst/>
          </a:prstGeom>
          <a:noFill/>
          <a:ln>
            <a:noFill/>
          </a:ln>
        </p:spPr>
      </p:pic>
      <p:sp>
        <p:nvSpPr>
          <p:cNvPr id="198" name="Google Shape;198;p18"/>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06</a:t>
            </a:r>
            <a:endParaRPr/>
          </a:p>
        </p:txBody>
      </p:sp>
      <p:sp>
        <p:nvSpPr>
          <p:cNvPr id="199" name="Google Shape;199;p18"/>
          <p:cNvSpPr/>
          <p:nvPr/>
        </p:nvSpPr>
        <p:spPr>
          <a:xfrm>
            <a:off x="762000" y="2786950"/>
            <a:ext cx="10668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8"/>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A Practical Upgrade Story</a:t>
            </a:r>
            <a:endParaRPr/>
          </a:p>
        </p:txBody>
      </p:sp>
      <p:sp>
        <p:nvSpPr>
          <p:cNvPr id="201" name="Google Shape;201;p18"/>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HOW EXISTING CUSTOMERS REALIZE VALUE IN PHASES</a:t>
            </a:r>
            <a:endParaRPr/>
          </a:p>
        </p:txBody>
      </p:sp>
      <p:sp>
        <p:nvSpPr>
          <p:cNvPr id="202" name="Google Shape;202;p18"/>
          <p:cNvSpPr txBox="1"/>
          <p:nvPr/>
        </p:nvSpPr>
        <p:spPr>
          <a:xfrm>
            <a:off x="952500" y="5669309"/>
            <a:ext cx="10287000" cy="323100"/>
          </a:xfrm>
          <a:prstGeom prst="rect">
            <a:avLst/>
          </a:prstGeom>
          <a:noFill/>
          <a:ln>
            <a:noFill/>
          </a:ln>
        </p:spPr>
        <p:txBody>
          <a:bodyPr anchorCtr="0" anchor="t" bIns="0" lIns="0" spcFirstLastPara="1" rIns="0" wrap="square" tIns="0">
            <a:spAutoFit/>
          </a:bodyPr>
          <a:lstStyle/>
          <a:p>
            <a:r>
              <a:rPr b="1" i="0" lang="en-US" sz="2100" u="none" cap="none" strike="noStrike">
                <a:solidFill>
                  <a:srgbClr val="0F172A"/>
                </a:solidFill>
                <a:latin typeface="Inter"/>
                <a:ea typeface="Inter"/>
                <a:cs typeface="Inter"/>
                <a:sym typeface="Inter"/>
              </a:rPr>
              <a:t>Adopt V2 incrementally and measure value at each step.</a:t>
            </a:r>
            <a:endParaRPr/>
          </a:p>
        </p:txBody>
      </p:sp>
      <p:sp>
        <p:nvSpPr>
          <p:cNvPr id="203" name="Google Shape;203;p18"/>
          <p:cNvSpPr txBox="1"/>
          <p:nvPr/>
        </p:nvSpPr>
        <p:spPr>
          <a:xfrm>
            <a:off x="762000" y="3076575"/>
            <a:ext cx="3360300" cy="277200"/>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Phase 1</a:t>
            </a:r>
            <a:endParaRPr/>
          </a:p>
        </p:txBody>
      </p:sp>
      <p:sp>
        <p:nvSpPr>
          <p:cNvPr id="204" name="Google Shape;204;p18"/>
          <p:cNvSpPr txBox="1"/>
          <p:nvPr/>
        </p:nvSpPr>
        <p:spPr>
          <a:xfrm>
            <a:off x="4495800" y="3076575"/>
            <a:ext cx="3360420" cy="295275"/>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0-30 Days</a:t>
            </a:r>
            <a:endParaRPr/>
          </a:p>
        </p:txBody>
      </p:sp>
      <p:sp>
        <p:nvSpPr>
          <p:cNvPr id="205" name="Google Shape;205;p18"/>
          <p:cNvSpPr txBox="1"/>
          <p:nvPr/>
        </p:nvSpPr>
        <p:spPr>
          <a:xfrm>
            <a:off x="8229600" y="3076575"/>
            <a:ext cx="3360420" cy="295275"/>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31-90 Days</a:t>
            </a:r>
            <a:endParaRPr/>
          </a:p>
        </p:txBody>
      </p:sp>
      <p:sp>
        <p:nvSpPr>
          <p:cNvPr id="206" name="Google Shape;206;p18"/>
          <p:cNvSpPr txBox="1"/>
          <p:nvPr/>
        </p:nvSpPr>
        <p:spPr>
          <a:xfrm>
            <a:off x="9525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Move one high-volume agent to V2 runtime</a:t>
            </a:r>
            <a:endParaRPr/>
          </a:p>
        </p:txBody>
      </p:sp>
      <p:sp>
        <p:nvSpPr>
          <p:cNvPr id="207" name="Google Shape;207;p18"/>
          <p:cNvSpPr txBox="1"/>
          <p:nvPr/>
        </p:nvSpPr>
        <p:spPr>
          <a:xfrm>
            <a:off x="9525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Enable immutable versioning and rollback policy</a:t>
            </a:r>
            <a:endParaRPr/>
          </a:p>
        </p:txBody>
      </p:sp>
      <p:sp>
        <p:nvSpPr>
          <p:cNvPr id="208" name="Google Shape;208;p18"/>
          <p:cNvSpPr txBox="1"/>
          <p:nvPr/>
        </p:nvSpPr>
        <p:spPr>
          <a:xfrm>
            <a:off x="9525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Connect existing IDE + AI workflow via MCP</a:t>
            </a:r>
            <a:endParaRPr/>
          </a:p>
        </p:txBody>
      </p:sp>
      <p:sp>
        <p:nvSpPr>
          <p:cNvPr id="209" name="Google Shape;209;p18"/>
          <p:cNvSpPr txBox="1"/>
          <p:nvPr/>
        </p:nvSpPr>
        <p:spPr>
          <a:xfrm>
            <a:off x="9525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Baseline NLU dashboard + operational KPIs</a:t>
            </a:r>
            <a:endParaRPr/>
          </a:p>
        </p:txBody>
      </p:sp>
      <p:sp>
        <p:nvSpPr>
          <p:cNvPr id="210" name="Google Shape;210;p18"/>
          <p:cNvSpPr txBox="1"/>
          <p:nvPr/>
        </p:nvSpPr>
        <p:spPr>
          <a:xfrm>
            <a:off x="46863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Use end-to-end traces for issue isolation</a:t>
            </a:r>
            <a:endParaRPr/>
          </a:p>
        </p:txBody>
      </p:sp>
      <p:sp>
        <p:nvSpPr>
          <p:cNvPr id="211" name="Google Shape;211;p18"/>
          <p:cNvSpPr txBox="1"/>
          <p:nvPr/>
        </p:nvSpPr>
        <p:spPr>
          <a:xfrm>
            <a:off x="46863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Reduce MTTR with observability playbooks</a:t>
            </a:r>
            <a:endParaRPr/>
          </a:p>
        </p:txBody>
      </p:sp>
      <p:sp>
        <p:nvSpPr>
          <p:cNvPr id="212" name="Google Shape;212;p18"/>
          <p:cNvSpPr txBox="1"/>
          <p:nvPr/>
        </p:nvSpPr>
        <p:spPr>
          <a:xfrm>
            <a:off x="46863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Scale hybrid scripted + reasoning patterns</a:t>
            </a:r>
            <a:endParaRPr/>
          </a:p>
        </p:txBody>
      </p:sp>
      <p:sp>
        <p:nvSpPr>
          <p:cNvPr id="213" name="Google Shape;213;p18"/>
          <p:cNvSpPr txBox="1"/>
          <p:nvPr/>
        </p:nvSpPr>
        <p:spPr>
          <a:xfrm>
            <a:off x="46863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Optimize model routing for cost and latency</a:t>
            </a:r>
            <a:endParaRPr/>
          </a:p>
        </p:txBody>
      </p:sp>
      <p:sp>
        <p:nvSpPr>
          <p:cNvPr id="214" name="Google Shape;214;p18"/>
          <p:cNvSpPr txBox="1"/>
          <p:nvPr/>
        </p:nvSpPr>
        <p:spPr>
          <a:xfrm>
            <a:off x="84201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Automate release gates with eval thresholds</a:t>
            </a:r>
            <a:endParaRPr/>
          </a:p>
        </p:txBody>
      </p:sp>
      <p:sp>
        <p:nvSpPr>
          <p:cNvPr id="215" name="Google Shape;215;p18"/>
          <p:cNvSpPr txBox="1"/>
          <p:nvPr/>
        </p:nvSpPr>
        <p:spPr>
          <a:xfrm>
            <a:off x="84201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Track CX, containment, and cost per release</a:t>
            </a:r>
            <a:endParaRPr/>
          </a:p>
        </p:txBody>
      </p:sp>
      <p:sp>
        <p:nvSpPr>
          <p:cNvPr id="216" name="Google Shape;216;p18"/>
          <p:cNvSpPr txBox="1"/>
          <p:nvPr/>
        </p:nvSpPr>
        <p:spPr>
          <a:xfrm>
            <a:off x="84201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Standardize deployment controls across teams</a:t>
            </a:r>
            <a:endParaRPr/>
          </a:p>
        </p:txBody>
      </p:sp>
      <p:sp>
        <p:nvSpPr>
          <p:cNvPr id="217" name="Google Shape;217;p18"/>
          <p:cNvSpPr txBox="1"/>
          <p:nvPr/>
        </p:nvSpPr>
        <p:spPr>
          <a:xfrm>
            <a:off x="84201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Drive continuous improvement from analytics</a:t>
            </a:r>
            <a:endParaRPr/>
          </a:p>
        </p:txBody>
      </p:sp>
      <p:sp>
        <p:nvSpPr>
          <p:cNvPr id="218" name="Google Shape;218;p18"/>
          <p:cNvSpPr txBox="1"/>
          <p:nvPr/>
        </p:nvSpPr>
        <p:spPr>
          <a:xfrm>
            <a:off x="7620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19" name="Google Shape;219;p18"/>
          <p:cNvSpPr txBox="1"/>
          <p:nvPr/>
        </p:nvSpPr>
        <p:spPr>
          <a:xfrm>
            <a:off x="7620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0" name="Google Shape;220;p18"/>
          <p:cNvSpPr txBox="1"/>
          <p:nvPr/>
        </p:nvSpPr>
        <p:spPr>
          <a:xfrm>
            <a:off x="7620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1" name="Google Shape;221;p18"/>
          <p:cNvSpPr txBox="1"/>
          <p:nvPr/>
        </p:nvSpPr>
        <p:spPr>
          <a:xfrm>
            <a:off x="7620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2" name="Google Shape;222;p18"/>
          <p:cNvSpPr txBox="1"/>
          <p:nvPr/>
        </p:nvSpPr>
        <p:spPr>
          <a:xfrm>
            <a:off x="44958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3" name="Google Shape;223;p18"/>
          <p:cNvSpPr txBox="1"/>
          <p:nvPr/>
        </p:nvSpPr>
        <p:spPr>
          <a:xfrm>
            <a:off x="44958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4" name="Google Shape;224;p18"/>
          <p:cNvSpPr txBox="1"/>
          <p:nvPr/>
        </p:nvSpPr>
        <p:spPr>
          <a:xfrm>
            <a:off x="44958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5" name="Google Shape;225;p18"/>
          <p:cNvSpPr txBox="1"/>
          <p:nvPr/>
        </p:nvSpPr>
        <p:spPr>
          <a:xfrm>
            <a:off x="44958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6" name="Google Shape;226;p18"/>
          <p:cNvSpPr txBox="1"/>
          <p:nvPr/>
        </p:nvSpPr>
        <p:spPr>
          <a:xfrm>
            <a:off x="82296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7" name="Google Shape;227;p18"/>
          <p:cNvSpPr txBox="1"/>
          <p:nvPr/>
        </p:nvSpPr>
        <p:spPr>
          <a:xfrm>
            <a:off x="82296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8" name="Google Shape;228;p18"/>
          <p:cNvSpPr txBox="1"/>
          <p:nvPr/>
        </p:nvSpPr>
        <p:spPr>
          <a:xfrm>
            <a:off x="82296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9" name="Google Shape;229;p18"/>
          <p:cNvSpPr txBox="1"/>
          <p:nvPr/>
        </p:nvSpPr>
        <p:spPr>
          <a:xfrm>
            <a:off x="82296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